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57" r:id="rId4"/>
    <p:sldId id="259" r:id="rId5"/>
    <p:sldId id="262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69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~30 seconds
• Introduce team name, track, and members with their roles.
• Each member should state which component they owned.
• Keep it crisp — the substance is in the next 6 slides.
TIP: Don't read the slide. Introduce yourselves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PROBLEM UNDERSTANDING &amp; APPROACH  (~2 minutes)
Left column — Problem Understanding:
  • Demonstrate you've identified the CORE challenge, not just restated the brief.
  • Show awareness of what makes this hard (anti-patterns, failure modes).
  • Mention key constraints: data scale, latency, accuracy vs. coverage, etc.
Right column — Your Approach:
  • Describe your high-level strategy. Don't just list tools — explain your THINKING.
  • Briefly mention alternatives you considered and why you chose this path.
  • This should feel like a conversation about problem-solving, not a feature list.
Bottom bar — Key Insight:
  • One sentence. What is the single idea that makes your approach compelling?
EVALUATION CRITERIA THIS COVERS:
  → Problem Understanding (25 pts)
  → Proposed Approach &amp; Solution Design (partial — 30 pts)
  → Creativity &amp; Originality (partial — 20 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PROBLEM &amp; APPROACH  (~2 minutes)
What to cover:
  • Lead with your understanding of the CORE challenge, not a restatement of the brief.
  • Your key insight — the one idea that makes your approach compelling.
  • Briefly: alternatives you considered and why you rejected them.
  • Data quality: what you found, how it shaped your pipeline. This proves you did EDA.
What NOT to do:
  • Don't re-read the problem statement back to the judges.
  • Don't list tools. Explain your THINKING.
EVALUATION CRITERIA:
  → Business Value &amp; Domain Understanding (20 pts)
  → Technical Depth &amp; Correctness (partial — 20 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RESULTS &amp; KEY OUTPUTS  (~2 minutes)
What to cover:
  • Your segments: names, sizes, what makes each distinct.
  • Why you chose this number — show your elbow plot / silhouette analysis.
  • Model performance: cluster metrics + transition prediction accuracy.
  • ONE strong visualization that tells the story.
What NOT to do:
  • Don't just show metric tables. Interpret them — what do they mean?
  • Don't show every visualization you made. Pick the ONE best one.
EVALUATION CRITERIA:
  → Working Demo &amp; Functional Completeness (20 pts)
  → Technical Depth &amp; Correctness (20 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LEARNINGS, LIMITATIONS &amp; NEXT STEPS  (~1.5 minutes)
This is your chance to show intellectual honesty and self-awareness.
What to cover:
  • Surprises: something the data or problem taught you.
  • Honest limitations: judges already know where your model is weak.
    Naming it yourself shows maturity. Hiding it looks naive.
  • Concrete next steps: not 'more data' — specific improvements you'd make.
  • Individual contributions: each member names their component.
TIP: 'A well-documented pipeline with honest limitations scores higher than
     a complex model with no explanation.'
EVALUATION CRITERIA:
  → Presentation &amp; Communication (15 pts)
  → Technical Depth &amp; Correctness (20 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BUSINESS IMPACT &amp; ACTIVATION  (~1.5 minutes)
This is where you prove you understand WHY segmentation matters, not just HOW to do it.
What to cover:
  • Concrete activation examples: segment × state → specific marketing action.
  • Business value: what does this enable that static RFM can't?
  • PLCC insight: did cardholders cluster differently? How would you treat them?
TIP: Judges are loyalty domain experts. Speak their language — campaigns, journeys,
     treatments, retention, reactivation. Not just ML jargon.
EVALUATION CRITERIA:
  → Business Value &amp; Domain Understanding (20 pts)
  → Presentation &amp; Communication (15 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FD7E4F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E5663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 LAUNCHPAD AI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One-Click-Ops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Cloud Engineering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19120"/>
            <a:ext cx="5029200" cy="1097280"/>
          </a:xfrm>
          <a:prstGeom prst="rect">
            <a:avLst/>
          </a:prstGeom>
          <a:solidFill>
            <a:srgbClr val="FD7E4F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35680"/>
            <a:ext cx="457200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 J P</a:t>
            </a:r>
            <a:endParaRPr lang="en-US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G</a:t>
            </a:r>
            <a:endParaRPr lang="en-US" sz="17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1A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D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 LAUNCHPAD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78247" y="55845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337562" y="11780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" y="1084580"/>
            <a:ext cx="3593592" cy="252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5098" y="-503555"/>
            <a:ext cx="1105205" cy="11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16002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074" name="Picture 2" descr="Kobie | LinkedIn">
            <a:extLst>
              <a:ext uri="{FF2B5EF4-FFF2-40B4-BE49-F238E27FC236}">
                <a16:creationId xmlns:a16="http://schemas.microsoft.com/office/drawing/2014/main" id="{45A37174-0AAB-4EE7-9F61-92CCD7E0D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774" y="0"/>
            <a:ext cx="500205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9D2CA648-3927-4E1D-AFD2-DC0DCF0CD918}"/>
              </a:ext>
            </a:extLst>
          </p:cNvPr>
          <p:cNvSpPr/>
          <p:nvPr/>
        </p:nvSpPr>
        <p:spPr>
          <a:xfrm>
            <a:off x="2880362" y="2428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solve?</a:t>
            </a:r>
            <a:endParaRPr lang="en-US" sz="2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72B6E6D-1934-420E-936D-8F69C93CFBEA}"/>
              </a:ext>
            </a:extLst>
          </p:cNvPr>
          <p:cNvSpPr/>
          <p:nvPr/>
        </p:nvSpPr>
        <p:spPr>
          <a:xfrm>
            <a:off x="612648" y="3120136"/>
            <a:ext cx="8133080" cy="153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6094161-530A-456E-99CE-2AD41B0F4F15}"/>
              </a:ext>
            </a:extLst>
          </p:cNvPr>
          <p:cNvSpPr/>
          <p:nvPr/>
        </p:nvSpPr>
        <p:spPr>
          <a:xfrm>
            <a:off x="548640" y="551180"/>
            <a:ext cx="8046720" cy="54864"/>
          </a:xfrm>
          <a:prstGeom prst="rect">
            <a:avLst/>
          </a:prstGeom>
          <a:solidFill>
            <a:srgbClr val="FD7E4F"/>
          </a:solidFill>
          <a:ln/>
        </p:spPr>
      </p:sp>
      <p:sp>
        <p:nvSpPr>
          <p:cNvPr id="21" name="StageEKS">
            <a:extLst>
              <a:ext uri="{FF2B5EF4-FFF2-40B4-BE49-F238E27FC236}">
                <a16:creationId xmlns:a16="http://schemas.microsoft.com/office/drawing/2014/main" id="{292B742D-7497-457C-A02A-D618D8BCF255}"/>
              </a:ext>
            </a:extLst>
          </p:cNvPr>
          <p:cNvSpPr/>
          <p:nvPr/>
        </p:nvSpPr>
        <p:spPr>
          <a:xfrm>
            <a:off x="394356" y="688086"/>
            <a:ext cx="8244184" cy="167259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shouldn't wait for infrastructure.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every new cloud project begins with weeks of provisioning, configuring, integrating, and validating countless components before a single feature is delivered. The result is slower releases, inconsistent deployments, configuration drift, rising operational costs, and reduced engineering productivity.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tageEKS">
            <a:extLst>
              <a:ext uri="{FF2B5EF4-FFF2-40B4-BE49-F238E27FC236}">
                <a16:creationId xmlns:a16="http://schemas.microsoft.com/office/drawing/2014/main" id="{0440AF52-98D4-41FF-B821-94AAF5ACFB3F}"/>
              </a:ext>
            </a:extLst>
          </p:cNvPr>
          <p:cNvSpPr/>
          <p:nvPr/>
        </p:nvSpPr>
        <p:spPr>
          <a:xfrm>
            <a:off x="513062" y="3046695"/>
            <a:ext cx="8074152" cy="1479585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One-Click-Ops changes that, one command provisions a complete, production - grade AWS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environment with security, cost governance, Infra drift detection and AI diagnostics built in.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Reproducible every time. Zero manual steps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881A8DD7-FCAA-40F4-AD8F-5B2E86A57C18}"/>
              </a:ext>
            </a:extLst>
          </p:cNvPr>
          <p:cNvSpPr/>
          <p:nvPr/>
        </p:nvSpPr>
        <p:spPr>
          <a:xfrm>
            <a:off x="484632" y="2932684"/>
            <a:ext cx="8046720" cy="54864"/>
          </a:xfrm>
          <a:prstGeom prst="rect">
            <a:avLst/>
          </a:prstGeom>
          <a:solidFill>
            <a:srgbClr val="FD7E4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2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188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D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 LAUNCHPAD AI HACKATHON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200914"/>
            <a:ext cx="8696960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THE CORE CHALLENGE </a:t>
            </a:r>
            <a:r>
              <a:rPr lang="en-US" sz="1600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solidFill>
                  <a:srgbClr val="1A20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Make it idempotent, declarative, and Git Ops-native, one trigger  </a:t>
            </a:r>
          </a:p>
          <a:p>
            <a:r>
              <a:rPr lang="en-US" sz="1600" b="1" dirty="0">
                <a:solidFill>
                  <a:srgbClr val="1A20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must yield the same correct environment every time.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solidFill>
                <a:srgbClr val="1A202C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7360" y="868934"/>
            <a:ext cx="8178800" cy="202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9440" y="1065530"/>
            <a:ext cx="8046720" cy="2226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1)  Bootstrap ordering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      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4) State &amp; drift       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2)  FluxCD reconciles cluster               5) Jenkins Health Check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3) Least-privilege secrets                      6) Auto-scaling at two layers 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7200" y="3180842"/>
            <a:ext cx="8188960" cy="1542034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1"/>
          <p:cNvSpPr/>
          <p:nvPr/>
        </p:nvSpPr>
        <p:spPr>
          <a:xfrm>
            <a:off x="457200" y="2975610"/>
            <a:ext cx="8188960" cy="54864"/>
          </a:xfrm>
          <a:prstGeom prst="rect">
            <a:avLst/>
          </a:prstGeom>
          <a:solidFill>
            <a:srgbClr val="FD7E4F"/>
          </a:solidFill>
          <a:ln/>
        </p:spPr>
      </p:sp>
      <p:sp>
        <p:nvSpPr>
          <p:cNvPr id="16" name="Text 12"/>
          <p:cNvSpPr/>
          <p:nvPr/>
        </p:nvSpPr>
        <p:spPr>
          <a:xfrm>
            <a:off x="782320" y="3409696"/>
            <a:ext cx="76809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INSIGHT: One command, one source of truth that is Git.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layer of infrastructure, platform, and application is declarative and self-reconciling, so the environment converges to the same correct state no matter where it started.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2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188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D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 LAUNCHPAD AI HACKATHON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62" y="-84269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Outputs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3" y="341353"/>
            <a:ext cx="257942" cy="2920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632" y="341435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SHIPPED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14362" y="635673"/>
            <a:ext cx="3949638" cy="1569509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9708" y="824097"/>
            <a:ext cx="3824292" cy="1381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complete environment, provisioned and running on AWS: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EKS cluster (oneclick-cluster, ap-south-1) + RDS PostgreSQL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Alert Portal: React/Vite, Node/Express, Postgres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Monitoring stack: Prometheus, Grafana, Alertmanager.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416" y="293915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6652" y="31091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AUTOMATION HIGHLIGHTS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503736" y="664400"/>
            <a:ext cx="3925824" cy="1549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  <p:txBody>
          <a:bodyPr/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467476" y="667780"/>
            <a:ext cx="4066224" cy="16520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layer is automated end to end: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Single Terraform Apply command (along with S3 state + DynamoDB locking)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FluxCD reconciles platform + app from Git (matches the cluster every 60 seconds without manual command)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Jenkins: build → Trivy scan → Infracost gate → push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Daily drift detection + K8sGPT auto-diagnosis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B2A4F16C-FA5E-4C59-B17F-3CB4FB9B2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41" y="2313432"/>
            <a:ext cx="310896" cy="310896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0E4DE511-3C6D-4878-B56F-334290C37782}"/>
              </a:ext>
            </a:extLst>
          </p:cNvPr>
          <p:cNvSpPr/>
          <p:nvPr/>
        </p:nvSpPr>
        <p:spPr>
          <a:xfrm>
            <a:off x="536888" y="2356541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ENABLES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3CF13CA-85A0-4BDA-BE5D-34D3E44F5525}"/>
              </a:ext>
            </a:extLst>
          </p:cNvPr>
          <p:cNvSpPr/>
          <p:nvPr/>
        </p:nvSpPr>
        <p:spPr>
          <a:xfrm>
            <a:off x="239708" y="2654385"/>
            <a:ext cx="3794760" cy="1853442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84B736B3-2E7F-4065-B99D-1C5ACC70462A}"/>
              </a:ext>
            </a:extLst>
          </p:cNvPr>
          <p:cNvSpPr/>
          <p:nvPr/>
        </p:nvSpPr>
        <p:spPr>
          <a:xfrm>
            <a:off x="324736" y="2800533"/>
            <a:ext cx="3474720" cy="1707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command turns an empty AWS account into a running, observable platform.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Repeatable environments for every demo.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No drift, Git is the source of truth, every change is auditable. Continuous flux reconciliation.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Cost + security gates run before anything is provisioned + autoscaling of nodes and pods during traffic.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E9FC7E0F-E137-4171-8A6A-BBAA25A36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958" y="2397103"/>
            <a:ext cx="227225" cy="227225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6CD3029F-F5F0-442C-8E7A-6332E55F9C1B}"/>
              </a:ext>
            </a:extLst>
          </p:cNvPr>
          <p:cNvSpPr/>
          <p:nvPr/>
        </p:nvSpPr>
        <p:spPr>
          <a:xfrm>
            <a:off x="4624061" y="2360101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MATTERS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1C0AC8F0-3FFF-4BE3-9E0C-646A0AE77EA2}"/>
              </a:ext>
            </a:extLst>
          </p:cNvPr>
          <p:cNvSpPr/>
          <p:nvPr/>
        </p:nvSpPr>
        <p:spPr>
          <a:xfrm>
            <a:off x="4503736" y="2643124"/>
            <a:ext cx="3925824" cy="1864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62BBD428-3384-4CE7-BE9B-B1D352FDBF00}"/>
              </a:ext>
            </a:extLst>
          </p:cNvPr>
          <p:cNvSpPr/>
          <p:nvPr/>
        </p:nvSpPr>
        <p:spPr>
          <a:xfrm>
            <a:off x="4659183" y="2766788"/>
            <a:ext cx="3474720" cy="1681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removes the slow, error-prone manual setup that blocks teams.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Faster onboarding, infra in minutes, not days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Safer by default: least-privilege IRSA, scanned images + autoscaling of pods and nodes.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Self-healing + AI triage lower mean-time-to-resolution. Faster troubleshooting.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2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188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D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 LAUNCHPAD AI HACKATHON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-502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Learnings, Limitations &amp; Next Steps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34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5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LEARNED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19" y="690880"/>
            <a:ext cx="4114801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19" y="715772"/>
            <a:ext cx="4069081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Terraform and various </a:t>
            </a:r>
            <a:r>
              <a:rPr lang="en-US" sz="120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 AWS Services.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GitOps reconciliation makes the stack self-healing, not just deployed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K8sgpt AI powered Kubernetes trouble shooting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Infracost Budget maintenance.</a:t>
            </a:r>
          </a:p>
          <a:p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Trivy scanning for vulnerabilities, Infracost budget gate.</a:t>
            </a:r>
          </a:p>
          <a:p>
            <a:pPr marL="0" indent="0">
              <a:buNone/>
            </a:pPr>
            <a:endParaRPr lang="en-US" sz="1200" dirty="0">
              <a:solidFill>
                <a:srgbClr val="3A4556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340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325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HONEST LIMITATIONS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754880" y="736600"/>
            <a:ext cx="38211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828040"/>
            <a:ext cx="356616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Multi availability zone and Nat-Gateway set to false due to heavy cost. </a:t>
            </a:r>
          </a:p>
          <a:p>
            <a:endParaRPr lang="en-US" sz="1200" dirty="0">
              <a:solidFill>
                <a:srgbClr val="3A4556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Infracost at pod level implementation, Infracost not calculated before Infra created because it is within Jenkins pipeline and Jenkins is inside EKS, creating chicken and egg problem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02920" y="2245360"/>
            <a:ext cx="8046720" cy="121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2245360"/>
            <a:ext cx="8046720" cy="54864"/>
          </a:xfrm>
          <a:prstGeom prst="rect">
            <a:avLst/>
          </a:prstGeom>
          <a:solidFill>
            <a:srgbClr val="FD7E4F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23368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7E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WE HAD MORE TIME…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85800" y="267004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Refactor Terraform into reusable modules (VPC, EKS, RDS), Implement Infracost at Pod level to get the exact cost while scaled up or down, K8sgpt for application and observability logs.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2920" y="3502152"/>
            <a:ext cx="8073136" cy="1096772"/>
          </a:xfrm>
          <a:prstGeom prst="rect">
            <a:avLst/>
          </a:prstGeom>
          <a:solidFill>
            <a:srgbClr val="FFFFFF"/>
          </a:solidFill>
          <a:ln w="12700">
            <a:solidFill>
              <a:srgbClr val="FDDD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7944" y="3561080"/>
            <a:ext cx="7798816" cy="813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INDIVIDUAL CONTRIBUTIONS: </a:t>
            </a:r>
          </a:p>
          <a:p>
            <a:r>
              <a:rPr lang="en-US" sz="14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Vaishnavi J P → Terraform infra + Bootstrap Bridge, Jenkins CI/CD, Infracost + K8sgpt + Drift   Detection,Trivy Gating , Prometheus, Grafana.   </a:t>
            </a:r>
          </a:p>
          <a:p>
            <a:r>
              <a:rPr lang="en-US" sz="1400" dirty="0">
                <a:solidFill>
                  <a:srgbClr val="3A45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Vivek G → AlertPortal app, FluxCD GitOps, Alert manager, Autoscaling.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0920"/>
            <a:ext cx="9144000" cy="342900"/>
          </a:xfrm>
          <a:prstGeom prst="rect">
            <a:avLst/>
          </a:prstGeom>
          <a:solidFill>
            <a:srgbClr val="1A12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188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D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 LAUNCHPAD AI HACKATHON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6FA454-FD4D-40D0-9DD0-65C2724A5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0852"/>
            <a:ext cx="7799814" cy="41989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EBC253-2001-4A48-A56D-7E8D6C2DED11}"/>
              </a:ext>
            </a:extLst>
          </p:cNvPr>
          <p:cNvSpPr txBox="1"/>
          <p:nvPr/>
        </p:nvSpPr>
        <p:spPr>
          <a:xfrm>
            <a:off x="2926079" y="49187"/>
            <a:ext cx="318008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AND VALUE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Kobie | LinkedIn">
            <a:extLst>
              <a:ext uri="{FF2B5EF4-FFF2-40B4-BE49-F238E27FC236}">
                <a16:creationId xmlns:a16="http://schemas.microsoft.com/office/drawing/2014/main" id="{F5D411C9-C229-4929-9421-6CEF843BB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774" y="0"/>
            <a:ext cx="500205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724</Words>
  <Application>Microsoft Office PowerPoint</Application>
  <PresentationFormat>On-screen Show (16:9)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Presentation — Kobie LaunchPad AI Hackathon</dc:title>
  <dc:subject>PptxGenJS Presentation</dc:subject>
  <dc:creator>Kobie Marketing GCC</dc:creator>
  <cp:lastModifiedBy>Tata Ilni</cp:lastModifiedBy>
  <cp:revision>33</cp:revision>
  <dcterms:created xsi:type="dcterms:W3CDTF">2026-06-29T04:31:56Z</dcterms:created>
  <dcterms:modified xsi:type="dcterms:W3CDTF">2026-07-17T18:15:24Z</dcterms:modified>
</cp:coreProperties>
</file>