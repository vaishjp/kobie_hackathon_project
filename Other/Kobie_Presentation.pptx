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60" r:id="rId4"/>
    <p:sldId id="261" r:id="rId5"/>
    <p:sldId id="262" r:id="rId6"/>
    <p:sldId id="258" r:id="rId7"/>
    <p:sldId id="263" r:id="rId8"/>
    <p:sldId id="264" r:id="rId9"/>
    <p:sldId id="266" r:id="rId10"/>
    <p:sldId id="272" r:id="rId11"/>
    <p:sldId id="265" r:id="rId12"/>
    <p:sldId id="268" r:id="rId13"/>
    <p:sldId id="259" r:id="rId14"/>
    <p:sldId id="269" r:id="rId15"/>
    <p:sldId id="271"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5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1409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 ~30 seconds
• Introduce your team name, members, and institution.
• State which track you've chosen and why it excited your team.
• Keep it brief — the substance is in the next 3 slides.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PROBLEM UNDERSTANDING &amp; APPROACH  (~2 minutes)
Left column — Problem Understanding:
  • Demonstrate you've identified the CORE challenge, not just restated the brief.
  • Show awareness of what makes this hard (anti-patterns, failure modes).
  • Mention key constraints: data scale, latency, accuracy vs. coverage, etc.
Right column — Your Approach:
  • Describe your high-level strategy. Don't just list tools — explain your THINKING.
  • Briefly mention alternatives you considered and why you chose this path.
  • This should feel like a conversation about problem-solving, not a feature list.
Bottom bar — Key Insight:
  • One sentence. What is the single idea that makes your approach compelling?
EVALUATION CRITERIA THIS COVERS:
  → Problem Understanding (25 pts)
  → Proposed Approach &amp; Solution Design (partial — 30 pts)
  → Creativity &amp; Originality (partial — 20 pts)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PROBLEM UNDERSTANDING &amp; APPROACH  (~2 minutes)
Left column — Problem Understanding:
  • Demonstrate you've identified the CORE challenge, not just restated the brief.
  • Show awareness of what makes this hard (anti-patterns, failure modes).
  • Mention key constraints: data scale, latency, accuracy vs. coverage, etc.
Right column — Your Approach:
  • Describe your high-level strategy. Don't just list tools — explain your THINKING.
  • Briefly mention alternatives you considered and why you chose this path.
  • This should feel like a conversation about problem-solving, not a feature list.
Bottom bar — Key Insight:
  • One sentence. What is the single idea that makes your approach compelling?
EVALUATION CRITERIA THIS COVERS:
  → Problem Understanding (25 pts)
  → Proposed Approach &amp; Solution Design (partial — 30 pts)
  → Creativity &amp; Originality (partial — 20 pts)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695142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PROBLEM UNDERSTANDING &amp; APPROACH  (~2 minutes)
Left column — Problem Understanding:
  • Demonstrate you've identified the CORE challenge, not just restated the brief.
  • Show awareness of what makes this hard (anti-patterns, failure modes).
  • Mention key constraints: data scale, latency, accuracy vs. coverage, etc.
Right column — Your Approach:
  • Describe your high-level strategy. Don't just list tools — explain your THINKING.
  • Briefly mention alternatives you considered and why you chose this path.
  • This should feel like a conversation about problem-solving, not a feature list.
Bottom bar — Key Insight:
  • One sentence. What is the single idea that makes your approach compelling?
EVALUATION CRITERIA THIS COVERS:
  → Problem Understanding (25 pts)
  → Proposed Approach &amp; Solution Design (partial — 30 pts)
  → Creativity &amp; Originality (partial — 20 pts)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854219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PROBLEM UNDERSTANDING &amp; APPROACH  (~2 minutes)
Left column — Problem Understanding:
  • Demonstrate you've identified the CORE challenge, not just restated the brief.
  • Show awareness of what makes this hard (anti-patterns, failure modes).
  • Mention key constraints: data scale, latency, accuracy vs. coverage, etc.
Right column — Your Approach:
  • Describe your high-level strategy. Don't just list tools — explain your THINKING.
  • Briefly mention alternatives you considered and why you chose this path.
  • This should feel like a conversation about problem-solving, not a feature list.
Bottom bar — Key Insight:
  • One sentence. What is the single idea that makes your approach compelling?
EVALUATION CRITERIA THIS COVERS:
  → Problem Understanding (25 pts)
  → Proposed Approach &amp; Solution Design (partial — 30 pts)
  → Creativity &amp; Originality (partial — 20 pts)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7916680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ARCHITECTURE &amp; SOLUTION DESIGN  (~2.5 minutes)
Architecture diagram (main area):
  • This is the centrepiece. Show 4–6 clearly labelled components.
  • Draw arrows showing data flow between components.
  • Label what each component DOES, not just what it IS.
  • If your system has a 'brain' (orchestrator, pipeline manager), make it obvious.
Tools &amp; Tech Choices (bottom-left):
  • Don't just list names — justify choices. 'XGBoost for transition prediction because
    class imbalance handling and interpretable feature importances' &gt; 'XGBoost'.
  • If using an LLM, specify which model and where in the pipeline.
Edge Cases (bottom-right):
  • Show you've thought about what can go wrong.
  • Examples: missing data, API failures, ambiguous inputs, adversarial cases.
EVALUATION CRITERIA THIS COVERS:
  → Proposed Approach &amp; Solution Design (30 pts)
  → Creativity &amp; Originality (partial — 20 pts)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ARCHITECTURE &amp; SOLUTION DESIGN  (~2.5 minutes)
Architecture diagram (main area):
  • This is the centrepiece. Show 4–6 clearly labelled components.
  • Draw arrows showing data flow between components.
  • Label what each component DOES, not just what it IS.
  • If your system has a 'brain' (orchestrator, pipeline manager), make it obvious.
Tools &amp; Tech Choices (bottom-left):
  • Don't just list names — justify choices. 'XGBoost for transition prediction because
    class imbalance handling and interpretable feature importances' &gt; 'XGBoost'.
  • If using an LLM, specify which model and where in the pipeline.
Edge Cases (bottom-right):
  • Show you've thought about what can go wrong.
  • Examples: missing data, API failures, ambiguous inputs, adversarial cases.
EVALUATION CRITERIA THIS COVERS:
  → Proposed Approach &amp; Solution Design (30 pts)
  → Creativity &amp; Originality (partial — 20 pts)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013351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ARCHITECTURE &amp; SOLUTION DESIGN  (~2.5 minutes)
Architecture diagram (main area):
  • This is the centrepiece. Show 4–6 clearly labelled components.
  • Draw arrows showing data flow between components.
  • Label what each component DOES, not just what it IS.
  • If your system has a 'brain' (orchestrator, pipeline manager), make it obvious.
Tools &amp; Tech Choices (bottom-left):
  • Don't just list names — justify choices. 'XGBoost for transition prediction because
    class imbalance handling and interpretable feature importances' &gt; 'XGBoost'.
  • If using an LLM, specify which model and where in the pipeline.
Edge Cases (bottom-right):
  • Show you've thought about what can go wrong.
  • Examples: missing data, API failures, ambiguous inputs, adversarial cases.
EVALUATION CRITERIA THIS COVERS:
  → Proposed Approach &amp; Solution Design (30 pts)
  → Creativity &amp; Originality (partial — 20 pts)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796783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ARCHITECTURE &amp; SOLUTION DESIGN  (~2.5 minutes)
Architecture diagram (main area):
  • This is the centrepiece. Show 4–6 clearly labelled components.
  • Draw arrows showing data flow between components.
  • Label what each component DOES, not just what it IS.
  • If your system has a 'brain' (orchestrator, pipeline manager), make it obvious.
Tools &amp; Tech Choices (bottom-left):
  • Don't just list names — justify choices. 'XGBoost for transition prediction because
    class imbalance handling and interpretable feature importances' &gt; 'XGBoost'.
  • If using an LLM, specify which model and where in the pipeline.
Edge Cases (bottom-right):
  • Show you've thought about what can go wrong.
  • Examples: missing data, API failures, ambiguous inputs, adversarial cases.
EVALUATION CRITERIA THIS COVERS:
  → Proposed Approach &amp; Solution Design (30 pts)
  → Creativity &amp; Originality (partial — 20 pts)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7800410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PROBLEM UNDERSTANDING &amp; APPROACH  (~2 minutes)
Left column — Problem Understanding:
  • Demonstrate you've identified the CORE challenge, not just restated the brief.
  • Show awareness of what makes this hard (anti-patterns, failure modes).
  • Mention key constraints: data scale, latency, accuracy vs. coverage, etc.
Right column — Your Approach:
  • Describe your high-level strategy. Don't just list tools — explain your THINKING.
  • Briefly mention alternatives you considered and why you chose this path.
  • This should feel like a conversation about problem-solving, not a feature list.
Bottom bar — Key Insight:
  • One sentence. What is the single idea that makes your approach compelling?
EVALUATION CRITERIA THIS COVERS:
  → Problem Understanding (25 pts)
  → Proposed Approach &amp; Solution Design (partial — 30 pts)
  → Creativity &amp; Originality (partial — 20 pts)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2101276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ARCHITECTURE &amp; SOLUTION DESIGN  (~2.5 minutes)
Architecture diagram (main area):
  • This is the centrepiece. Show 4–6 clearly labelled components.
  • Draw arrows showing data flow between components.
  • Label what each component DOES, not just what it IS.
  • If your system has a 'brain' (orchestrator, pipeline manager), make it obvious.
Tools &amp; Tech Choices (bottom-left):
  • Don't just list names — justify choices. 'XGBoost for transition prediction because
    class imbalance handling and interpretable feature importances' &gt; 'XGBoost'.
  • If using an LLM, specify which model and where in the pipeline.
Edge Cases (bottom-right):
  • Show you've thought about what can go wrong.
  • Examples: missing data, API failures, ambiguous inputs, adversarial cases.
EVALUATION CRITERIA THIS COVERS:
  → Proposed Approach &amp; Solution Design (30 pts)
  → Creativity &amp; Originality (partial — 20 pts)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55762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ARCHITECTURE &amp; SOLUTION DESIGN  (~2.5 minutes)
Architecture diagram (main area):
  • This is the centrepiece. Show 4–6 clearly labelled components.
  • Draw arrows showing data flow between components.
  • Label what each component DOES, not just what it IS.
  • If your system has a 'brain' (orchestrator, pipeline manager), make it obvious.
Tools &amp; Tech Choices (bottom-left):
  • Don't just list names — justify choices. 'XGBoost for transition prediction because
    class imbalance handling and interpretable feature importances' &gt; 'XGBoost'.
  • If using an LLM, specify which model and where in the pipeline.
Edge Cases (bottom-right):
  • Show you've thought about what can go wrong.
  • Examples: missing data, API failures, ambiguous inputs, adversarial cases.
EVALUATION CRITERIA THIS COVERS:
  → Proposed Approach &amp; Solution Design (30 pts)
  → Creativity &amp; Originality (partial — 20 pts)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2170672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FEASIBILITY, TIMELINE &amp; TEAM  (~1.5 minutes)
2-Week Build Plan (left):
  • Week 1 should focus on the foundation / MVP — what must work.
  • Week 2 should focus on hardening, testing, edge cases, documentation.
  • Key Risks: show self-awareness. What could go wrong? What's your backup plan?
Team &amp; Readiness (right-top):
  • Show clear division of work. Each member owns a component.
  • Faculty want to see that all members contribute meaningfully.
MVP vs. Stretch (right-bottom):
  • Define your minimum viable submission clearly.
  • Stretch goals show ambition but shouldn't make the core plan feel unrealistic.
Preliminary Work (bottom bar):
  • Even small things count: 'explored the dataset', 'prototyped the constraint checker',
    'tested 3 clustering algorithms on a subsample'. Shows initiative.
EVALUATION CRITERIA THIS COVERS:
  → Feasibility &amp; Planning (15 pts)
  → Team Composition &amp; Readiness (10 pts)
  → Creativity &amp; Originality (partial — 20 pts)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FEASIBILITY, TIMELINE &amp; TEAM  (~1.5 minutes)
2-Week Build Plan (left):
  • Week 1 should focus on the foundation / MVP — what must work.
  • Week 2 should focus on hardening, testing, edge cases, documentation.
  • Key Risks: show self-awareness. What could go wrong? What's your backup plan?
Team &amp; Readiness (right-top):
  • Show clear division of work. Each member owns a component.
  • Faculty want to see that all members contribute meaningfully.
MVP vs. Stretch (right-bottom):
  • Define your minimum viable submission clearly.
  • Stretch goals show ambition but shouldn't make the core plan feel unrealistic.
Preliminary Work (bottom bar):
  • Even small things count: 'explored the dataset', 'prototyped the constraint checker',
    'tested 3 clustering algorithms on a subsample'. Shows initiative.
EVALUATION CRITERIA THIS COVERS:
  → Feasibility &amp; Planning (15 pts)
  → Team Composition &amp; Readiness (10 pts)
  → Creativity &amp; Originality (partial — 20 pts)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8323433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 ~30 seconds
• Introduce your team name, members, and institution.
• State which track you've chosen and why it excited your team.
• Keep it brief — the substance is in the next 3 slides.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1490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image" Target="../media/image16.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7"/>
        </a:solidFill>
        <a:effectLst/>
      </p:bgPr>
    </p:bg>
    <p:spTree>
      <p:nvGrpSpPr>
        <p:cNvPr id="1" name=""/>
        <p:cNvGrpSpPr/>
        <p:nvPr/>
      </p:nvGrpSpPr>
      <p:grpSpPr>
        <a:xfrm>
          <a:off x="0" y="0"/>
          <a:ext cx="0" cy="0"/>
          <a:chOff x="0" y="0"/>
          <a:chExt cx="0" cy="0"/>
        </a:xfrm>
      </p:grpSpPr>
      <p:sp>
        <p:nvSpPr>
          <p:cNvPr id="2" name="Shape 0"/>
          <p:cNvSpPr/>
          <p:nvPr/>
        </p:nvSpPr>
        <p:spPr>
          <a:xfrm>
            <a:off x="6827520" y="-1193292"/>
            <a:ext cx="4287520" cy="3662172"/>
          </a:xfrm>
          <a:prstGeom prst="ellipse">
            <a:avLst/>
          </a:prstGeom>
          <a:solidFill>
            <a:srgbClr val="FD7E4F">
              <a:alpha val="75000"/>
            </a:srgbClr>
          </a:solidFill>
          <a:ln/>
        </p:spPr>
      </p:sp>
      <p:sp>
        <p:nvSpPr>
          <p:cNvPr id="3" name="Shape 1"/>
          <p:cNvSpPr/>
          <p:nvPr/>
        </p:nvSpPr>
        <p:spPr>
          <a:xfrm>
            <a:off x="7589520" y="2560320"/>
            <a:ext cx="2743200" cy="2743200"/>
          </a:xfrm>
          <a:prstGeom prst="ellipse">
            <a:avLst/>
          </a:prstGeom>
          <a:solidFill>
            <a:srgbClr val="E5663A">
              <a:alpha val="55000"/>
            </a:srgbClr>
          </a:solidFill>
          <a:ln/>
        </p:spPr>
      </p:sp>
      <p:sp>
        <p:nvSpPr>
          <p:cNvPr id="4" name="Text 2"/>
          <p:cNvSpPr/>
          <p:nvPr/>
        </p:nvSpPr>
        <p:spPr>
          <a:xfrm>
            <a:off x="640080" y="457200"/>
            <a:ext cx="6400800" cy="365760"/>
          </a:xfrm>
          <a:prstGeom prst="rect">
            <a:avLst/>
          </a:prstGeom>
          <a:noFill/>
          <a:ln/>
        </p:spPr>
        <p:txBody>
          <a:bodyPr wrap="square" rtlCol="0" anchor="ctr"/>
          <a:lstStyle/>
          <a:p>
            <a:pPr marL="0" indent="0">
              <a:buNone/>
            </a:pPr>
            <a:r>
              <a:rPr lang="en-US" sz="1200" b="1" kern="0" spc="400" dirty="0">
                <a:solidFill>
                  <a:srgbClr val="FD7E4F"/>
                </a:solidFill>
                <a:latin typeface="Calibri" pitchFamily="34" charset="0"/>
                <a:ea typeface="Calibri" pitchFamily="34" charset="-122"/>
                <a:cs typeface="Calibri" pitchFamily="34" charset="-120"/>
              </a:rPr>
              <a:t>KOBIE LAUNCHPAD 2026</a:t>
            </a:r>
            <a:endParaRPr lang="en-US" sz="1200" dirty="0"/>
          </a:p>
        </p:txBody>
      </p:sp>
      <p:sp>
        <p:nvSpPr>
          <p:cNvPr id="5" name="Text 3"/>
          <p:cNvSpPr/>
          <p:nvPr/>
        </p:nvSpPr>
        <p:spPr>
          <a:xfrm>
            <a:off x="640080" y="1371600"/>
            <a:ext cx="6847840" cy="640080"/>
          </a:xfrm>
          <a:prstGeom prst="rect">
            <a:avLst/>
          </a:prstGeom>
          <a:noFill/>
          <a:ln/>
        </p:spPr>
        <p:txBody>
          <a:bodyPr wrap="square" rtlCol="0" anchor="ctr"/>
          <a:lstStyle/>
          <a:p>
            <a:pPr marL="0" indent="0">
              <a:buNone/>
            </a:pPr>
            <a:r>
              <a:rPr lang="en-US" sz="2800" b="1" dirty="0">
                <a:solidFill>
                  <a:srgbClr val="FFFFFF"/>
                </a:solidFill>
                <a:latin typeface="Georgia" pitchFamily="34" charset="0"/>
              </a:rPr>
              <a:t>One-Click-Ops</a:t>
            </a:r>
            <a:endParaRPr lang="en-US" sz="2800" dirty="0"/>
          </a:p>
        </p:txBody>
      </p:sp>
      <p:sp>
        <p:nvSpPr>
          <p:cNvPr id="6" name="Text 4"/>
          <p:cNvSpPr/>
          <p:nvPr/>
        </p:nvSpPr>
        <p:spPr>
          <a:xfrm>
            <a:off x="640080" y="2011680"/>
            <a:ext cx="6400800" cy="457200"/>
          </a:xfrm>
          <a:prstGeom prst="rect">
            <a:avLst/>
          </a:prstGeom>
          <a:noFill/>
          <a:ln/>
        </p:spPr>
        <p:txBody>
          <a:bodyPr wrap="square" rtlCol="0" anchor="ctr"/>
          <a:lstStyle/>
          <a:p>
            <a:pPr marL="0" indent="0">
              <a:buNone/>
            </a:pPr>
            <a:r>
              <a:rPr lang="en-US" sz="2000" b="1" dirty="0">
                <a:solidFill>
                  <a:srgbClr val="9CA3AF"/>
                </a:solidFill>
                <a:latin typeface="Calibri" pitchFamily="34" charset="0"/>
                <a:ea typeface="Calibri" pitchFamily="34" charset="-122"/>
                <a:cs typeface="Calibri" pitchFamily="34" charset="-120"/>
              </a:rPr>
              <a:t>[Track : Cloud Engineering]</a:t>
            </a:r>
            <a:endParaRPr lang="en-US" sz="2000" b="1" dirty="0"/>
          </a:p>
        </p:txBody>
      </p:sp>
      <p:sp>
        <p:nvSpPr>
          <p:cNvPr id="7" name="Shape 5"/>
          <p:cNvSpPr/>
          <p:nvPr/>
        </p:nvSpPr>
        <p:spPr>
          <a:xfrm>
            <a:off x="640080" y="3017520"/>
            <a:ext cx="5486400" cy="1188720"/>
          </a:xfrm>
          <a:prstGeom prst="rect">
            <a:avLst/>
          </a:prstGeom>
          <a:solidFill>
            <a:srgbClr val="FD7E4F">
              <a:alpha val="20000"/>
            </a:srgbClr>
          </a:solidFill>
          <a:ln/>
        </p:spPr>
      </p:sp>
      <p:sp>
        <p:nvSpPr>
          <p:cNvPr id="8" name="Text 6"/>
          <p:cNvSpPr/>
          <p:nvPr/>
        </p:nvSpPr>
        <p:spPr>
          <a:xfrm>
            <a:off x="868680" y="3108960"/>
            <a:ext cx="5029200" cy="1005840"/>
          </a:xfrm>
          <a:prstGeom prst="rect">
            <a:avLst/>
          </a:prstGeom>
          <a:noFill/>
          <a:ln/>
        </p:spPr>
        <p:txBody>
          <a:bodyPr wrap="square" lIns="0" tIns="0" rIns="0" bIns="0" rtlCol="0" anchor="ctr"/>
          <a:lstStyle/>
          <a:p>
            <a:pPr marL="0" indent="0">
              <a:buNone/>
            </a:pPr>
            <a:r>
              <a:rPr lang="en-US" sz="2000" b="1" dirty="0">
                <a:solidFill>
                  <a:srgbClr val="FD7E4F"/>
                </a:solidFill>
                <a:latin typeface="Calibri" pitchFamily="34" charset="0"/>
                <a:ea typeface="Calibri" pitchFamily="34" charset="-122"/>
                <a:cs typeface="Calibri" pitchFamily="34" charset="-120"/>
              </a:rPr>
              <a:t>Team Members</a:t>
            </a:r>
            <a:endParaRPr lang="en-US" sz="2000" dirty="0"/>
          </a:p>
          <a:p>
            <a:pPr marL="0" indent="0">
              <a:buNone/>
            </a:pPr>
            <a:r>
              <a:rPr lang="en-US" sz="2000" b="1" dirty="0">
                <a:solidFill>
                  <a:schemeClr val="bg1"/>
                </a:solidFill>
                <a:latin typeface="Calibri" pitchFamily="34" charset="0"/>
                <a:ea typeface="Calibri" pitchFamily="34" charset="-122"/>
                <a:cs typeface="Calibri" pitchFamily="34" charset="-120"/>
              </a:rPr>
              <a:t>Vaishnavi J P</a:t>
            </a:r>
            <a:endParaRPr lang="en-US" sz="2000" b="1" dirty="0">
              <a:solidFill>
                <a:schemeClr val="bg1"/>
              </a:solidFill>
            </a:endParaRPr>
          </a:p>
          <a:p>
            <a:pPr marL="0" indent="0">
              <a:buNone/>
            </a:pPr>
            <a:r>
              <a:rPr lang="en-US" sz="2000" b="1" dirty="0">
                <a:solidFill>
                  <a:schemeClr val="bg1"/>
                </a:solidFill>
                <a:latin typeface="Calibri" pitchFamily="34" charset="0"/>
                <a:ea typeface="Calibri" pitchFamily="34" charset="-122"/>
                <a:cs typeface="Calibri" pitchFamily="34" charset="-120"/>
              </a:rPr>
              <a:t>Vivek G</a:t>
            </a:r>
            <a:endParaRPr lang="en-US" sz="2000" b="1" dirty="0">
              <a:solidFill>
                <a:schemeClr val="bg1"/>
              </a:solidFill>
            </a:endParaRPr>
          </a:p>
        </p:txBody>
      </p:sp>
      <p:sp>
        <p:nvSpPr>
          <p:cNvPr id="9" name="Text 7"/>
          <p:cNvSpPr/>
          <p:nvPr/>
        </p:nvSpPr>
        <p:spPr>
          <a:xfrm>
            <a:off x="640080" y="4434840"/>
            <a:ext cx="4572000" cy="320040"/>
          </a:xfrm>
          <a:prstGeom prst="rect">
            <a:avLst/>
          </a:prstGeom>
          <a:noFill/>
          <a:ln/>
        </p:spPr>
        <p:txBody>
          <a:bodyPr wrap="square" rtlCol="0" anchor="ctr"/>
          <a:lstStyle/>
          <a:p>
            <a:pPr marL="0" indent="0">
              <a:buNone/>
            </a:pPr>
            <a:r>
              <a:rPr lang="en-US" dirty="0">
                <a:solidFill>
                  <a:srgbClr val="9CA3AF"/>
                </a:solidFill>
                <a:latin typeface="Calibri" pitchFamily="34" charset="0"/>
                <a:ea typeface="Calibri" pitchFamily="34" charset="-122"/>
                <a:cs typeface="Calibri" pitchFamily="34" charset="-120"/>
              </a:rPr>
              <a:t>PES UNIVERSITY</a:t>
            </a:r>
            <a:endParaRPr lang="en-US" dirty="0"/>
          </a:p>
        </p:txBody>
      </p:sp>
      <p:pic>
        <p:nvPicPr>
          <p:cNvPr id="2050" name="Picture 2" descr="Kobie | LinkedIn">
            <a:extLst>
              <a:ext uri="{FF2B5EF4-FFF2-40B4-BE49-F238E27FC236}">
                <a16:creationId xmlns:a16="http://schemas.microsoft.com/office/drawing/2014/main" id="{82AAE073-394F-4688-BB34-D42881EFAF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6440" y="91440"/>
            <a:ext cx="731520" cy="7315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5"/>
        </a:solidFill>
        <a:effectLst/>
      </p:bgPr>
    </p:bg>
    <p:spTree>
      <p:nvGrpSpPr>
        <p:cNvPr id="1" name=""/>
        <p:cNvGrpSpPr/>
        <p:nvPr/>
      </p:nvGrpSpPr>
      <p:grpSpPr>
        <a:xfrm>
          <a:off x="0" y="0"/>
          <a:ext cx="0" cy="0"/>
          <a:chOff x="0" y="0"/>
          <a:chExt cx="0" cy="0"/>
        </a:xfrm>
      </p:grpSpPr>
      <p:sp>
        <p:nvSpPr>
          <p:cNvPr id="2" name="Shape 0"/>
          <p:cNvSpPr/>
          <p:nvPr/>
        </p:nvSpPr>
        <p:spPr>
          <a:xfrm>
            <a:off x="0" y="4800600"/>
            <a:ext cx="9144000" cy="342900"/>
          </a:xfrm>
          <a:prstGeom prst="rect">
            <a:avLst/>
          </a:prstGeom>
          <a:solidFill>
            <a:srgbClr val="2D1A12"/>
          </a:solidFill>
          <a:ln/>
        </p:spPr>
      </p:sp>
      <p:sp>
        <p:nvSpPr>
          <p:cNvPr id="3" name="Text 1"/>
          <p:cNvSpPr/>
          <p:nvPr/>
        </p:nvSpPr>
        <p:spPr>
          <a:xfrm>
            <a:off x="457200" y="4818888"/>
            <a:ext cx="3657600" cy="301752"/>
          </a:xfrm>
          <a:prstGeom prst="rect">
            <a:avLst/>
          </a:prstGeom>
          <a:noFill/>
          <a:ln/>
        </p:spPr>
        <p:txBody>
          <a:bodyPr wrap="square" lIns="0" tIns="0" rIns="0" bIns="0" rtlCol="0" anchor="ctr"/>
          <a:lstStyle/>
          <a:p>
            <a:pPr marL="0" indent="0">
              <a:buNone/>
            </a:pPr>
            <a:r>
              <a:rPr lang="en-US" sz="800" b="1" kern="0" spc="200" dirty="0">
                <a:solidFill>
                  <a:srgbClr val="FD7E4F"/>
                </a:solidFill>
                <a:latin typeface="Calibri" pitchFamily="34" charset="0"/>
                <a:ea typeface="Calibri" pitchFamily="34" charset="-122"/>
                <a:cs typeface="Calibri" pitchFamily="34" charset="-120"/>
              </a:rPr>
              <a:t>KOBIE LAUNCHPAD 2026</a:t>
            </a:r>
            <a:endParaRPr lang="en-US" sz="800" dirty="0"/>
          </a:p>
        </p:txBody>
      </p:sp>
      <p:sp>
        <p:nvSpPr>
          <p:cNvPr id="4" name="Text 2"/>
          <p:cNvSpPr/>
          <p:nvPr/>
        </p:nvSpPr>
        <p:spPr>
          <a:xfrm>
            <a:off x="7772400" y="4818888"/>
            <a:ext cx="914400" cy="301752"/>
          </a:xfrm>
          <a:prstGeom prst="rect">
            <a:avLst/>
          </a:prstGeom>
          <a:noFill/>
          <a:ln/>
        </p:spPr>
        <p:txBody>
          <a:bodyPr wrap="square" lIns="0" tIns="0" rIns="0" bIns="0" rtlCol="0" anchor="ctr"/>
          <a:lstStyle/>
          <a:p>
            <a:pPr marL="0" indent="0" algn="r">
              <a:buNone/>
            </a:pPr>
            <a:r>
              <a:rPr lang="en-US" sz="800" dirty="0">
                <a:solidFill>
                  <a:srgbClr val="9CA3AF"/>
                </a:solidFill>
                <a:latin typeface="Calibri" pitchFamily="34" charset="0"/>
                <a:ea typeface="Calibri" pitchFamily="34" charset="-122"/>
                <a:cs typeface="Calibri" pitchFamily="34" charset="-120"/>
              </a:rPr>
              <a:t>1 /1 3</a:t>
            </a:r>
            <a:endParaRPr lang="en-US" sz="800" dirty="0"/>
          </a:p>
        </p:txBody>
      </p:sp>
      <p:sp>
        <p:nvSpPr>
          <p:cNvPr id="5" name="Text 3"/>
          <p:cNvSpPr/>
          <p:nvPr/>
        </p:nvSpPr>
        <p:spPr>
          <a:xfrm>
            <a:off x="1371600" y="524256"/>
            <a:ext cx="7315200" cy="548640"/>
          </a:xfrm>
          <a:prstGeom prst="rect">
            <a:avLst/>
          </a:prstGeom>
          <a:noFill/>
          <a:ln/>
        </p:spPr>
        <p:txBody>
          <a:bodyPr wrap="square" lIns="0" tIns="0" rIns="0" bIns="0" rtlCol="0" anchor="ctr"/>
          <a:lstStyle/>
          <a:p>
            <a:pPr marL="0" indent="0">
              <a:buNone/>
            </a:pPr>
            <a:r>
              <a:rPr lang="en-US" sz="2400" b="1" dirty="0">
                <a:solidFill>
                  <a:srgbClr val="1F2937"/>
                </a:solidFill>
                <a:latin typeface="Georgia" pitchFamily="34" charset="0"/>
                <a:ea typeface="Georgia" pitchFamily="34" charset="-122"/>
                <a:cs typeface="Georgia" pitchFamily="34" charset="-120"/>
              </a:rPr>
              <a:t>Problem Understanding &amp; Approach</a:t>
            </a:r>
            <a:endParaRPr lang="en-US" sz="2400" dirty="0"/>
          </a:p>
        </p:txBody>
      </p:sp>
      <p:pic>
        <p:nvPicPr>
          <p:cNvPr id="6" name="Image 0" descr="preencoded.png"/>
          <p:cNvPicPr>
            <a:picLocks noChangeAspect="1"/>
          </p:cNvPicPr>
          <p:nvPr/>
        </p:nvPicPr>
        <p:blipFill>
          <a:blip r:embed="rId3"/>
          <a:stretch>
            <a:fillRect/>
          </a:stretch>
        </p:blipFill>
        <p:spPr>
          <a:xfrm>
            <a:off x="2885442" y="1181100"/>
            <a:ext cx="329184" cy="329184"/>
          </a:xfrm>
          <a:prstGeom prst="rect">
            <a:avLst/>
          </a:prstGeom>
        </p:spPr>
      </p:pic>
      <p:sp>
        <p:nvSpPr>
          <p:cNvPr id="7" name="Text 4"/>
          <p:cNvSpPr/>
          <p:nvPr/>
        </p:nvSpPr>
        <p:spPr>
          <a:xfrm>
            <a:off x="3337562" y="1178052"/>
            <a:ext cx="3200400" cy="384048"/>
          </a:xfrm>
          <a:prstGeom prst="rect">
            <a:avLst/>
          </a:prstGeom>
          <a:noFill/>
          <a:ln/>
        </p:spPr>
        <p:txBody>
          <a:bodyPr wrap="square" lIns="0" tIns="0" rIns="0" bIns="0" rtlCol="0" anchor="ctr"/>
          <a:lstStyle/>
          <a:p>
            <a:pPr marL="0" indent="0">
              <a:buNone/>
            </a:pPr>
            <a:r>
              <a:rPr lang="en-US" sz="1300" b="1" dirty="0">
                <a:solidFill>
                  <a:srgbClr val="FD7E4F"/>
                </a:solidFill>
                <a:latin typeface="Calibri" pitchFamily="34" charset="0"/>
                <a:ea typeface="Calibri" pitchFamily="34" charset="-122"/>
                <a:cs typeface="Calibri" pitchFamily="34" charset="-120"/>
              </a:rPr>
              <a:t>WHAT WE UNDERSTAND</a:t>
            </a:r>
            <a:endParaRPr lang="en-US" sz="1300" dirty="0"/>
          </a:p>
        </p:txBody>
      </p:sp>
      <p:sp>
        <p:nvSpPr>
          <p:cNvPr id="9" name="Text 6"/>
          <p:cNvSpPr/>
          <p:nvPr/>
        </p:nvSpPr>
        <p:spPr>
          <a:xfrm>
            <a:off x="612648" y="1084580"/>
            <a:ext cx="3593592" cy="2527300"/>
          </a:xfrm>
          <a:prstGeom prst="rect">
            <a:avLst/>
          </a:prstGeom>
          <a:noFill/>
          <a:ln/>
        </p:spPr>
        <p:txBody>
          <a:bodyPr wrap="square" lIns="0" tIns="0" rIns="0" bIns="0" rtlCol="0" anchor="t"/>
          <a:lstStyle/>
          <a:p>
            <a:pPr marL="0" indent="0">
              <a:buNone/>
            </a:pPr>
            <a:endParaRPr lang="en-US" sz="1200" dirty="0"/>
          </a:p>
        </p:txBody>
      </p:sp>
      <p:sp>
        <p:nvSpPr>
          <p:cNvPr id="11" name="Text 7"/>
          <p:cNvSpPr/>
          <p:nvPr/>
        </p:nvSpPr>
        <p:spPr>
          <a:xfrm>
            <a:off x="10055098" y="-503555"/>
            <a:ext cx="1105205" cy="119823"/>
          </a:xfrm>
          <a:prstGeom prst="rect">
            <a:avLst/>
          </a:prstGeom>
          <a:noFill/>
          <a:ln/>
        </p:spPr>
        <p:txBody>
          <a:bodyPr wrap="square" lIns="0" tIns="0" rIns="0" bIns="0" rtlCol="0" anchor="ctr"/>
          <a:lstStyle/>
          <a:p>
            <a:pPr marL="0" indent="0">
              <a:buNone/>
            </a:pPr>
            <a:endParaRPr lang="en-US" sz="1300" dirty="0"/>
          </a:p>
        </p:txBody>
      </p:sp>
      <p:sp>
        <p:nvSpPr>
          <p:cNvPr id="13" name="Text 9"/>
          <p:cNvSpPr/>
          <p:nvPr/>
        </p:nvSpPr>
        <p:spPr>
          <a:xfrm>
            <a:off x="4983480" y="1600200"/>
            <a:ext cx="3474720" cy="2011680"/>
          </a:xfrm>
          <a:prstGeom prst="rect">
            <a:avLst/>
          </a:prstGeom>
          <a:noFill/>
          <a:ln/>
        </p:spPr>
        <p:txBody>
          <a:bodyPr wrap="square" lIns="0" tIns="0" rIns="0" bIns="0" rtlCol="0" anchor="t"/>
          <a:lstStyle/>
          <a:p>
            <a:pPr marL="0" indent="0">
              <a:buNone/>
            </a:pPr>
            <a:endParaRPr lang="en-US" sz="1200" dirty="0"/>
          </a:p>
        </p:txBody>
      </p:sp>
      <p:sp>
        <p:nvSpPr>
          <p:cNvPr id="16" name="Text 12"/>
          <p:cNvSpPr/>
          <p:nvPr/>
        </p:nvSpPr>
        <p:spPr>
          <a:xfrm>
            <a:off x="777240" y="3931920"/>
            <a:ext cx="7589520" cy="594360"/>
          </a:xfrm>
          <a:prstGeom prst="rect">
            <a:avLst/>
          </a:prstGeom>
          <a:noFill/>
          <a:ln/>
        </p:spPr>
        <p:txBody>
          <a:bodyPr wrap="square" lIns="0" tIns="0" rIns="0" bIns="0" rtlCol="0" anchor="t"/>
          <a:lstStyle/>
          <a:p>
            <a:pPr marL="0" indent="0">
              <a:buNone/>
            </a:pPr>
            <a:endParaRPr lang="en-US" sz="1200" dirty="0"/>
          </a:p>
        </p:txBody>
      </p:sp>
      <p:sp>
        <p:nvSpPr>
          <p:cNvPr id="17" name="Text 6">
            <a:extLst>
              <a:ext uri="{FF2B5EF4-FFF2-40B4-BE49-F238E27FC236}">
                <a16:creationId xmlns:a16="http://schemas.microsoft.com/office/drawing/2014/main" id="{BB589AE6-AAAC-4E5E-99AD-E8C073AB817C}"/>
              </a:ext>
            </a:extLst>
          </p:cNvPr>
          <p:cNvSpPr/>
          <p:nvPr/>
        </p:nvSpPr>
        <p:spPr>
          <a:xfrm>
            <a:off x="612648" y="1392936"/>
            <a:ext cx="8133080" cy="2839212"/>
          </a:xfrm>
          <a:prstGeom prst="rect">
            <a:avLst/>
          </a:prstGeom>
          <a:noFill/>
          <a:ln/>
        </p:spPr>
        <p:txBody>
          <a:bodyPr wrap="square" lIns="0" tIns="0" rIns="0" bIns="0" rtlCol="0" anchor="t"/>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We are building a system that transforms a single command into a fully operational cloud environment with networking, database, Kubernetes infrastructure, platform tooling, and a deployed three-tier application without manual intervention. Our One-Click Environment Provisioner uses modular Terraform to provision a production grade AWS stack with VPC, RDS, and EKS, alongside secure remote state management and least-privilege IAM. FluxCD manages platform and application deployments declaratively through Git, preventing configuration drift. A Jenkins CI/CD pipeline handles testing, vulnerability scanning, and deployment with strict failure gates. The platform is idempotent, secure, observable through Prometheus and Grafana, and designed with realistic MVP scope and risk mitigation strategies.</a:t>
            </a:r>
          </a:p>
        </p:txBody>
      </p:sp>
      <p:pic>
        <p:nvPicPr>
          <p:cNvPr id="3074" name="Picture 2" descr="Kobie | LinkedIn">
            <a:extLst>
              <a:ext uri="{FF2B5EF4-FFF2-40B4-BE49-F238E27FC236}">
                <a16:creationId xmlns:a16="http://schemas.microsoft.com/office/drawing/2014/main" id="{45A37174-0AAB-4EE7-9F61-92CCD7E0DF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16798" y="64135"/>
            <a:ext cx="657860" cy="6578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7F5"/>
        </a:solidFill>
        <a:effectLst/>
      </p:bgPr>
    </p:bg>
    <p:spTree>
      <p:nvGrpSpPr>
        <p:cNvPr id="1" name=""/>
        <p:cNvGrpSpPr/>
        <p:nvPr/>
      </p:nvGrpSpPr>
      <p:grpSpPr>
        <a:xfrm>
          <a:off x="0" y="0"/>
          <a:ext cx="0" cy="0"/>
          <a:chOff x="0" y="0"/>
          <a:chExt cx="0" cy="0"/>
        </a:xfrm>
      </p:grpSpPr>
      <p:sp>
        <p:nvSpPr>
          <p:cNvPr id="2" name="Shape 0"/>
          <p:cNvSpPr/>
          <p:nvPr/>
        </p:nvSpPr>
        <p:spPr>
          <a:xfrm>
            <a:off x="0" y="4800600"/>
            <a:ext cx="9144000" cy="342900"/>
          </a:xfrm>
          <a:prstGeom prst="rect">
            <a:avLst/>
          </a:prstGeom>
          <a:solidFill>
            <a:srgbClr val="2D1A12"/>
          </a:solidFill>
          <a:ln/>
        </p:spPr>
      </p:sp>
      <p:sp>
        <p:nvSpPr>
          <p:cNvPr id="3" name="Text 1"/>
          <p:cNvSpPr/>
          <p:nvPr/>
        </p:nvSpPr>
        <p:spPr>
          <a:xfrm>
            <a:off x="457200" y="4818888"/>
            <a:ext cx="3657600" cy="301752"/>
          </a:xfrm>
          <a:prstGeom prst="rect">
            <a:avLst/>
          </a:prstGeom>
          <a:noFill/>
          <a:ln/>
        </p:spPr>
        <p:txBody>
          <a:bodyPr wrap="square" lIns="0" tIns="0" rIns="0" bIns="0" rtlCol="0" anchor="ctr"/>
          <a:lstStyle/>
          <a:p>
            <a:pPr marL="0" indent="0">
              <a:buNone/>
            </a:pPr>
            <a:r>
              <a:rPr lang="en-US" sz="800" b="1" kern="0" spc="200" dirty="0">
                <a:solidFill>
                  <a:srgbClr val="FD7E4F"/>
                </a:solidFill>
                <a:latin typeface="Calibri" pitchFamily="34" charset="0"/>
                <a:ea typeface="Calibri" pitchFamily="34" charset="-122"/>
                <a:cs typeface="Calibri" pitchFamily="34" charset="-120"/>
              </a:rPr>
              <a:t>KOBIE LAUNCHPAD 2026</a:t>
            </a:r>
            <a:endParaRPr lang="en-US" sz="800" dirty="0"/>
          </a:p>
        </p:txBody>
      </p:sp>
      <p:sp>
        <p:nvSpPr>
          <p:cNvPr id="4" name="Text 2"/>
          <p:cNvSpPr/>
          <p:nvPr/>
        </p:nvSpPr>
        <p:spPr>
          <a:xfrm>
            <a:off x="7772400" y="4818888"/>
            <a:ext cx="914400" cy="301752"/>
          </a:xfrm>
          <a:prstGeom prst="rect">
            <a:avLst/>
          </a:prstGeom>
          <a:noFill/>
          <a:ln/>
        </p:spPr>
        <p:txBody>
          <a:bodyPr wrap="square" lIns="0" tIns="0" rIns="0" bIns="0" rtlCol="0" anchor="ctr"/>
          <a:lstStyle/>
          <a:p>
            <a:pPr marL="0" indent="0" algn="r">
              <a:buNone/>
            </a:pPr>
            <a:r>
              <a:rPr lang="en-US" sz="800" dirty="0">
                <a:solidFill>
                  <a:srgbClr val="9CA3AF"/>
                </a:solidFill>
                <a:latin typeface="Calibri" pitchFamily="34" charset="0"/>
                <a:ea typeface="Calibri" pitchFamily="34" charset="-122"/>
                <a:cs typeface="Calibri" pitchFamily="34" charset="-120"/>
              </a:rPr>
              <a:t>2 / 13</a:t>
            </a:r>
            <a:endParaRPr lang="en-US" sz="800" dirty="0"/>
          </a:p>
        </p:txBody>
      </p:sp>
      <p:sp>
        <p:nvSpPr>
          <p:cNvPr id="5" name="Text 3"/>
          <p:cNvSpPr/>
          <p:nvPr/>
        </p:nvSpPr>
        <p:spPr>
          <a:xfrm>
            <a:off x="548640" y="13979"/>
            <a:ext cx="7315200" cy="548640"/>
          </a:xfrm>
          <a:prstGeom prst="rect">
            <a:avLst/>
          </a:prstGeom>
          <a:noFill/>
          <a:ln/>
        </p:spPr>
        <p:txBody>
          <a:bodyPr wrap="square" lIns="0" tIns="0" rIns="0" bIns="0" rtlCol="0" anchor="ctr"/>
          <a:lstStyle/>
          <a:p>
            <a:pPr marL="0" indent="0">
              <a:buNone/>
            </a:pPr>
            <a:endParaRPr lang="en-US" sz="2000" dirty="0"/>
          </a:p>
        </p:txBody>
      </p:sp>
      <p:pic>
        <p:nvPicPr>
          <p:cNvPr id="6" name="Image 0" descr="preencoded.png"/>
          <p:cNvPicPr>
            <a:picLocks noChangeAspect="1"/>
          </p:cNvPicPr>
          <p:nvPr/>
        </p:nvPicPr>
        <p:blipFill>
          <a:blip r:embed="rId3"/>
          <a:stretch>
            <a:fillRect/>
          </a:stretch>
        </p:blipFill>
        <p:spPr>
          <a:xfrm>
            <a:off x="548640" y="1078992"/>
            <a:ext cx="329184" cy="329184"/>
          </a:xfrm>
          <a:prstGeom prst="rect">
            <a:avLst/>
          </a:prstGeom>
        </p:spPr>
      </p:pic>
      <p:sp>
        <p:nvSpPr>
          <p:cNvPr id="7" name="Text 4"/>
          <p:cNvSpPr/>
          <p:nvPr/>
        </p:nvSpPr>
        <p:spPr>
          <a:xfrm>
            <a:off x="1005840" y="1051560"/>
            <a:ext cx="3200400" cy="384048"/>
          </a:xfrm>
          <a:prstGeom prst="rect">
            <a:avLst/>
          </a:prstGeom>
          <a:noFill/>
          <a:ln/>
        </p:spPr>
        <p:txBody>
          <a:bodyPr wrap="square" lIns="0" tIns="0" rIns="0" bIns="0" rtlCol="0" anchor="ctr"/>
          <a:lstStyle/>
          <a:p>
            <a:pPr marL="0" indent="0">
              <a:buNone/>
            </a:pPr>
            <a:r>
              <a:rPr lang="en-US" sz="1300" b="1" dirty="0">
                <a:solidFill>
                  <a:srgbClr val="FD7E4F"/>
                </a:solidFill>
                <a:latin typeface="Calibri" pitchFamily="34" charset="0"/>
                <a:ea typeface="Calibri" pitchFamily="34" charset="-122"/>
                <a:cs typeface="Calibri" pitchFamily="34" charset="-120"/>
              </a:rPr>
              <a:t>WHAT WE UNDERSTAND</a:t>
            </a:r>
            <a:endParaRPr lang="en-US" sz="1300" dirty="0"/>
          </a:p>
        </p:txBody>
      </p:sp>
      <p:sp>
        <p:nvSpPr>
          <p:cNvPr id="8" name="Shape 5"/>
          <p:cNvSpPr/>
          <p:nvPr/>
        </p:nvSpPr>
        <p:spPr>
          <a:xfrm>
            <a:off x="548640" y="1508760"/>
            <a:ext cx="3794760" cy="2194560"/>
          </a:xfrm>
          <a:prstGeom prst="rect">
            <a:avLst/>
          </a:prstGeom>
          <a:solidFill>
            <a:srgbClr val="FFFFFF"/>
          </a:solidFill>
          <a:ln w="12700">
            <a:solidFill>
              <a:srgbClr val="FDDDD0"/>
            </a:solidFill>
            <a:prstDash val="solid"/>
          </a:ln>
        </p:spPr>
      </p:sp>
      <p:pic>
        <p:nvPicPr>
          <p:cNvPr id="10" name="Image 1" descr="preencoded.png"/>
          <p:cNvPicPr>
            <a:picLocks noChangeAspect="1"/>
          </p:cNvPicPr>
          <p:nvPr/>
        </p:nvPicPr>
        <p:blipFill>
          <a:blip r:embed="rId4"/>
          <a:stretch>
            <a:fillRect/>
          </a:stretch>
        </p:blipFill>
        <p:spPr>
          <a:xfrm>
            <a:off x="4800600" y="1078992"/>
            <a:ext cx="329184" cy="329184"/>
          </a:xfrm>
          <a:prstGeom prst="rect">
            <a:avLst/>
          </a:prstGeom>
        </p:spPr>
      </p:pic>
      <p:sp>
        <p:nvSpPr>
          <p:cNvPr id="11" name="Text 7"/>
          <p:cNvSpPr/>
          <p:nvPr/>
        </p:nvSpPr>
        <p:spPr>
          <a:xfrm>
            <a:off x="5257800" y="1051560"/>
            <a:ext cx="3200400" cy="384048"/>
          </a:xfrm>
          <a:prstGeom prst="rect">
            <a:avLst/>
          </a:prstGeom>
          <a:noFill/>
          <a:ln/>
        </p:spPr>
        <p:txBody>
          <a:bodyPr wrap="square" lIns="0" tIns="0" rIns="0" bIns="0" rtlCol="0" anchor="ctr"/>
          <a:lstStyle/>
          <a:p>
            <a:pPr marL="0" indent="0">
              <a:buNone/>
            </a:pPr>
            <a:r>
              <a:rPr lang="en-US" sz="1300" b="1" dirty="0">
                <a:solidFill>
                  <a:srgbClr val="FD7E4F"/>
                </a:solidFill>
                <a:latin typeface="Calibri" pitchFamily="34" charset="0"/>
                <a:ea typeface="Calibri" pitchFamily="34" charset="-122"/>
                <a:cs typeface="Calibri" pitchFamily="34" charset="-120"/>
              </a:rPr>
              <a:t>OUR APPROACH</a:t>
            </a:r>
            <a:endParaRPr lang="en-US" sz="1300" dirty="0"/>
          </a:p>
        </p:txBody>
      </p:sp>
      <p:sp>
        <p:nvSpPr>
          <p:cNvPr id="12" name="Shape 8"/>
          <p:cNvSpPr/>
          <p:nvPr/>
        </p:nvSpPr>
        <p:spPr>
          <a:xfrm>
            <a:off x="4800600" y="1508760"/>
            <a:ext cx="3794760" cy="2194560"/>
          </a:xfrm>
          <a:prstGeom prst="rect">
            <a:avLst/>
          </a:prstGeom>
          <a:solidFill>
            <a:srgbClr val="FFFFFF"/>
          </a:solidFill>
          <a:ln w="12700">
            <a:solidFill>
              <a:srgbClr val="FDDDD0"/>
            </a:solidFill>
            <a:prstDash val="solid"/>
          </a:ln>
        </p:spPr>
      </p:sp>
      <p:sp>
        <p:nvSpPr>
          <p:cNvPr id="13" name="Text 9"/>
          <p:cNvSpPr/>
          <p:nvPr/>
        </p:nvSpPr>
        <p:spPr>
          <a:xfrm>
            <a:off x="4983480" y="1600200"/>
            <a:ext cx="3474720" cy="2011680"/>
          </a:xfrm>
          <a:prstGeom prst="rect">
            <a:avLst/>
          </a:prstGeom>
          <a:noFill/>
          <a:ln/>
        </p:spPr>
        <p:txBody>
          <a:bodyPr wrap="square" lIns="0" tIns="0" rIns="0" bIns="0" rtlCol="0" anchor="t"/>
          <a:lstStyle/>
          <a:p>
            <a:pPr marL="0" indent="0">
              <a:buNone/>
            </a:pPr>
            <a:r>
              <a:rPr lang="en-US" sz="1200" i="1" dirty="0">
                <a:solidFill>
                  <a:srgbClr val="C0876E"/>
                </a:solidFill>
                <a:latin typeface="Calibri" pitchFamily="34" charset="0"/>
                <a:ea typeface="Calibri" pitchFamily="34" charset="-122"/>
                <a:cs typeface="Calibri" pitchFamily="34" charset="-120"/>
              </a:rPr>
              <a:t>Replace this with a high-level summary of your solution approach.</a:t>
            </a:r>
            <a:endParaRPr lang="en-US" sz="1200" dirty="0"/>
          </a:p>
          <a:p>
            <a:pPr marL="0" indent="0">
              <a:buNone/>
            </a:pPr>
            <a:endParaRPr lang="en-US" sz="1200" dirty="0"/>
          </a:p>
          <a:p>
            <a:pPr marL="0" indent="0">
              <a:buNone/>
            </a:pPr>
            <a:r>
              <a:rPr lang="en-US" sz="1200" i="1" dirty="0">
                <a:solidFill>
                  <a:srgbClr val="C0876E"/>
                </a:solidFill>
                <a:latin typeface="Calibri" pitchFamily="34" charset="0"/>
                <a:ea typeface="Calibri" pitchFamily="34" charset="-122"/>
                <a:cs typeface="Calibri" pitchFamily="34" charset="-120"/>
              </a:rPr>
              <a:t>• What is your core strategy / insight?</a:t>
            </a:r>
            <a:endParaRPr lang="en-US" sz="1200" dirty="0"/>
          </a:p>
          <a:p>
            <a:pPr marL="0" indent="0">
              <a:buNone/>
            </a:pPr>
            <a:r>
              <a:rPr lang="en-US" sz="1200" i="1" dirty="0">
                <a:solidFill>
                  <a:srgbClr val="C0876E"/>
                </a:solidFill>
                <a:latin typeface="Calibri" pitchFamily="34" charset="0"/>
                <a:ea typeface="Calibri" pitchFamily="34" charset="-122"/>
                <a:cs typeface="Calibri" pitchFamily="34" charset="-120"/>
              </a:rPr>
              <a:t>• How does your approach address what makes this hard?</a:t>
            </a:r>
            <a:endParaRPr lang="en-US" sz="1200" dirty="0"/>
          </a:p>
          <a:p>
            <a:pPr marL="0" indent="0">
              <a:buNone/>
            </a:pPr>
            <a:r>
              <a:rPr lang="en-US" sz="1200" i="1" dirty="0">
                <a:solidFill>
                  <a:srgbClr val="C0876E"/>
                </a:solidFill>
                <a:latin typeface="Calibri" pitchFamily="34" charset="0"/>
                <a:ea typeface="Calibri" pitchFamily="34" charset="-122"/>
                <a:cs typeface="Calibri" pitchFamily="34" charset="-120"/>
              </a:rPr>
              <a:t>• What alternatives did you consider and why did you reject them?</a:t>
            </a:r>
            <a:endParaRPr lang="en-US" sz="1200" dirty="0"/>
          </a:p>
        </p:txBody>
      </p:sp>
      <p:sp>
        <p:nvSpPr>
          <p:cNvPr id="15" name="Shape 11"/>
          <p:cNvSpPr/>
          <p:nvPr/>
        </p:nvSpPr>
        <p:spPr>
          <a:xfrm flipH="1" flipV="1">
            <a:off x="91440" y="167640"/>
            <a:ext cx="103594" cy="4358640"/>
          </a:xfrm>
          <a:prstGeom prst="rect">
            <a:avLst/>
          </a:prstGeom>
          <a:solidFill>
            <a:srgbClr val="FD7E4F"/>
          </a:solidFill>
          <a:ln/>
        </p:spPr>
      </p:sp>
      <p:sp>
        <p:nvSpPr>
          <p:cNvPr id="16" name="Text 12"/>
          <p:cNvSpPr/>
          <p:nvPr/>
        </p:nvSpPr>
        <p:spPr>
          <a:xfrm>
            <a:off x="777240" y="3931920"/>
            <a:ext cx="7589520" cy="594360"/>
          </a:xfrm>
          <a:prstGeom prst="rect">
            <a:avLst/>
          </a:prstGeom>
          <a:noFill/>
          <a:ln/>
        </p:spPr>
        <p:txBody>
          <a:bodyPr wrap="square" lIns="0" tIns="0" rIns="0" bIns="0" rtlCol="0" anchor="t"/>
          <a:lstStyle/>
          <a:p>
            <a:pPr marL="0" indent="0">
              <a:buNone/>
            </a:pPr>
            <a:r>
              <a:rPr lang="en-US" sz="1200" i="1" dirty="0">
                <a:solidFill>
                  <a:srgbClr val="C0876E"/>
                </a:solidFill>
                <a:latin typeface="Calibri" pitchFamily="34" charset="0"/>
                <a:ea typeface="Calibri" pitchFamily="34" charset="-122"/>
                <a:cs typeface="Calibri" pitchFamily="34" charset="-120"/>
              </a:rPr>
              <a:t>Key Insight: [Summarise your single most important idea in one sentence — what makes your approach different?]</a:t>
            </a:r>
            <a:endParaRPr lang="en-US" sz="1200" dirty="0"/>
          </a:p>
        </p:txBody>
      </p:sp>
      <p:pic>
        <p:nvPicPr>
          <p:cNvPr id="17" name="Picture 16">
            <a:extLst>
              <a:ext uri="{FF2B5EF4-FFF2-40B4-BE49-F238E27FC236}">
                <a16:creationId xmlns:a16="http://schemas.microsoft.com/office/drawing/2014/main" id="{74470ED9-2A64-4CA8-8E19-D0072287652A}"/>
              </a:ext>
            </a:extLst>
          </p:cNvPr>
          <p:cNvPicPr>
            <a:picLocks noChangeAspect="1"/>
          </p:cNvPicPr>
          <p:nvPr/>
        </p:nvPicPr>
        <p:blipFill>
          <a:blip r:embed="rId5"/>
          <a:stretch>
            <a:fillRect/>
          </a:stretch>
        </p:blipFill>
        <p:spPr>
          <a:xfrm>
            <a:off x="290301" y="147320"/>
            <a:ext cx="8762259" cy="4378960"/>
          </a:xfrm>
          <a:prstGeom prst="rect">
            <a:avLst/>
          </a:prstGeom>
        </p:spPr>
      </p:pic>
      <p:sp>
        <p:nvSpPr>
          <p:cNvPr id="18" name="Text 7">
            <a:extLst>
              <a:ext uri="{FF2B5EF4-FFF2-40B4-BE49-F238E27FC236}">
                <a16:creationId xmlns:a16="http://schemas.microsoft.com/office/drawing/2014/main" id="{5FE8DE6E-D9CC-430E-B6ED-E6E51E3C5821}"/>
              </a:ext>
            </a:extLst>
          </p:cNvPr>
          <p:cNvSpPr/>
          <p:nvPr/>
        </p:nvSpPr>
        <p:spPr>
          <a:xfrm>
            <a:off x="10518248" y="-503554"/>
            <a:ext cx="651602" cy="113230"/>
          </a:xfrm>
          <a:prstGeom prst="rect">
            <a:avLst/>
          </a:prstGeom>
          <a:noFill/>
          <a:ln/>
        </p:spPr>
        <p:txBody>
          <a:bodyPr wrap="square" lIns="0" tIns="0" rIns="0" bIns="0" rtlCol="0" anchor="ctr"/>
          <a:lstStyle/>
          <a:p>
            <a:pPr marL="0" indent="0">
              <a:buNone/>
            </a:pPr>
            <a:endParaRPr lang="en-US" sz="1300" dirty="0"/>
          </a:p>
        </p:txBody>
      </p:sp>
      <p:pic>
        <p:nvPicPr>
          <p:cNvPr id="19" name="Picture 2" descr="Kobie | LinkedIn">
            <a:extLst>
              <a:ext uri="{FF2B5EF4-FFF2-40B4-BE49-F238E27FC236}">
                <a16:creationId xmlns:a16="http://schemas.microsoft.com/office/drawing/2014/main" id="{43701FA8-5B91-4EC9-9587-D0D748CD0A8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62539" y="64135"/>
            <a:ext cx="621665" cy="621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021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7F5"/>
        </a:solidFill>
        <a:effectLst/>
      </p:bgPr>
    </p:bg>
    <p:spTree>
      <p:nvGrpSpPr>
        <p:cNvPr id="1" name=""/>
        <p:cNvGrpSpPr/>
        <p:nvPr/>
      </p:nvGrpSpPr>
      <p:grpSpPr>
        <a:xfrm>
          <a:off x="0" y="0"/>
          <a:ext cx="0" cy="0"/>
          <a:chOff x="0" y="0"/>
          <a:chExt cx="0" cy="0"/>
        </a:xfrm>
      </p:grpSpPr>
      <p:sp>
        <p:nvSpPr>
          <p:cNvPr id="2" name="Shape 0"/>
          <p:cNvSpPr/>
          <p:nvPr/>
        </p:nvSpPr>
        <p:spPr>
          <a:xfrm>
            <a:off x="0" y="4800600"/>
            <a:ext cx="9144000" cy="342900"/>
          </a:xfrm>
          <a:prstGeom prst="rect">
            <a:avLst/>
          </a:prstGeom>
          <a:solidFill>
            <a:srgbClr val="2D1A12"/>
          </a:solidFill>
          <a:ln/>
        </p:spPr>
      </p:sp>
      <p:sp>
        <p:nvSpPr>
          <p:cNvPr id="3" name="Text 1"/>
          <p:cNvSpPr/>
          <p:nvPr/>
        </p:nvSpPr>
        <p:spPr>
          <a:xfrm>
            <a:off x="457200" y="4818888"/>
            <a:ext cx="3657600" cy="301752"/>
          </a:xfrm>
          <a:prstGeom prst="rect">
            <a:avLst/>
          </a:prstGeom>
          <a:noFill/>
          <a:ln/>
        </p:spPr>
        <p:txBody>
          <a:bodyPr wrap="square" lIns="0" tIns="0" rIns="0" bIns="0" rtlCol="0" anchor="ctr"/>
          <a:lstStyle/>
          <a:p>
            <a:pPr marL="0" indent="0">
              <a:buNone/>
            </a:pPr>
            <a:r>
              <a:rPr lang="en-US" sz="800" b="1" kern="0" spc="200" dirty="0">
                <a:solidFill>
                  <a:srgbClr val="FD7E4F"/>
                </a:solidFill>
                <a:latin typeface="Calibri" pitchFamily="34" charset="0"/>
                <a:ea typeface="Calibri" pitchFamily="34" charset="-122"/>
                <a:cs typeface="Calibri" pitchFamily="34" charset="-120"/>
              </a:rPr>
              <a:t>KOBIE LAUNCHPAD 2026</a:t>
            </a:r>
            <a:endParaRPr lang="en-US" sz="800" dirty="0"/>
          </a:p>
        </p:txBody>
      </p:sp>
      <p:sp>
        <p:nvSpPr>
          <p:cNvPr id="4" name="Text 2"/>
          <p:cNvSpPr/>
          <p:nvPr/>
        </p:nvSpPr>
        <p:spPr>
          <a:xfrm>
            <a:off x="7772400" y="4818888"/>
            <a:ext cx="914400" cy="301752"/>
          </a:xfrm>
          <a:prstGeom prst="rect">
            <a:avLst/>
          </a:prstGeom>
          <a:noFill/>
          <a:ln/>
        </p:spPr>
        <p:txBody>
          <a:bodyPr wrap="square" lIns="0" tIns="0" rIns="0" bIns="0" rtlCol="0" anchor="ctr"/>
          <a:lstStyle/>
          <a:p>
            <a:pPr marL="0" indent="0" algn="r">
              <a:buNone/>
            </a:pPr>
            <a:r>
              <a:rPr lang="en-US" sz="800" dirty="0">
                <a:solidFill>
                  <a:srgbClr val="9CA3AF"/>
                </a:solidFill>
                <a:latin typeface="Calibri" pitchFamily="34" charset="0"/>
                <a:ea typeface="Calibri" pitchFamily="34" charset="-122"/>
                <a:cs typeface="Calibri" pitchFamily="34" charset="-120"/>
              </a:rPr>
              <a:t>3 /1 3</a:t>
            </a:r>
            <a:endParaRPr lang="en-US" sz="800" dirty="0"/>
          </a:p>
        </p:txBody>
      </p:sp>
      <p:sp>
        <p:nvSpPr>
          <p:cNvPr id="5" name="Text 3"/>
          <p:cNvSpPr/>
          <p:nvPr/>
        </p:nvSpPr>
        <p:spPr>
          <a:xfrm>
            <a:off x="548640" y="13979"/>
            <a:ext cx="7315200" cy="548640"/>
          </a:xfrm>
          <a:prstGeom prst="rect">
            <a:avLst/>
          </a:prstGeom>
          <a:noFill/>
          <a:ln/>
        </p:spPr>
        <p:txBody>
          <a:bodyPr wrap="square" lIns="0" tIns="0" rIns="0" bIns="0" rtlCol="0" anchor="ctr"/>
          <a:lstStyle/>
          <a:p>
            <a:pPr marL="0" indent="0">
              <a:buNone/>
            </a:pPr>
            <a:r>
              <a:rPr lang="en-US" sz="2000" b="1" dirty="0">
                <a:solidFill>
                  <a:srgbClr val="1F2937"/>
                </a:solidFill>
                <a:latin typeface="Georgia" pitchFamily="34" charset="0"/>
                <a:ea typeface="Georgia" pitchFamily="34" charset="-122"/>
                <a:cs typeface="Georgia" pitchFamily="34" charset="-120"/>
              </a:rPr>
              <a:t>Problem Understanding &amp; Approach</a:t>
            </a:r>
            <a:endParaRPr lang="en-US" sz="2000" dirty="0"/>
          </a:p>
        </p:txBody>
      </p:sp>
      <p:pic>
        <p:nvPicPr>
          <p:cNvPr id="6" name="Image 0" descr="preencoded.png"/>
          <p:cNvPicPr>
            <a:picLocks noChangeAspect="1"/>
          </p:cNvPicPr>
          <p:nvPr/>
        </p:nvPicPr>
        <p:blipFill>
          <a:blip r:embed="rId3"/>
          <a:stretch>
            <a:fillRect/>
          </a:stretch>
        </p:blipFill>
        <p:spPr>
          <a:xfrm>
            <a:off x="548640" y="1078992"/>
            <a:ext cx="329184" cy="329184"/>
          </a:xfrm>
          <a:prstGeom prst="rect">
            <a:avLst/>
          </a:prstGeom>
        </p:spPr>
      </p:pic>
      <p:sp>
        <p:nvSpPr>
          <p:cNvPr id="7" name="Text 4"/>
          <p:cNvSpPr/>
          <p:nvPr/>
        </p:nvSpPr>
        <p:spPr>
          <a:xfrm>
            <a:off x="1005840" y="1051560"/>
            <a:ext cx="3200400" cy="384048"/>
          </a:xfrm>
          <a:prstGeom prst="rect">
            <a:avLst/>
          </a:prstGeom>
          <a:noFill/>
          <a:ln/>
        </p:spPr>
        <p:txBody>
          <a:bodyPr wrap="square" lIns="0" tIns="0" rIns="0" bIns="0" rtlCol="0" anchor="ctr"/>
          <a:lstStyle/>
          <a:p>
            <a:pPr marL="0" indent="0">
              <a:buNone/>
            </a:pPr>
            <a:r>
              <a:rPr lang="en-US" sz="1300" b="1" dirty="0">
                <a:solidFill>
                  <a:srgbClr val="FD7E4F"/>
                </a:solidFill>
                <a:latin typeface="Calibri" pitchFamily="34" charset="0"/>
                <a:ea typeface="Calibri" pitchFamily="34" charset="-122"/>
                <a:cs typeface="Calibri" pitchFamily="34" charset="-120"/>
              </a:rPr>
              <a:t>WHAT WE UNDERSTAND</a:t>
            </a:r>
            <a:endParaRPr lang="en-US" sz="1300" dirty="0"/>
          </a:p>
        </p:txBody>
      </p:sp>
      <p:sp>
        <p:nvSpPr>
          <p:cNvPr id="8" name="Shape 5"/>
          <p:cNvSpPr/>
          <p:nvPr/>
        </p:nvSpPr>
        <p:spPr>
          <a:xfrm>
            <a:off x="548640" y="1508760"/>
            <a:ext cx="3794760" cy="2194560"/>
          </a:xfrm>
          <a:prstGeom prst="rect">
            <a:avLst/>
          </a:prstGeom>
          <a:solidFill>
            <a:srgbClr val="FFFFFF"/>
          </a:solidFill>
          <a:ln w="12700">
            <a:solidFill>
              <a:srgbClr val="FDDDD0"/>
            </a:solidFill>
            <a:prstDash val="solid"/>
          </a:ln>
        </p:spPr>
      </p:sp>
      <p:pic>
        <p:nvPicPr>
          <p:cNvPr id="10" name="Image 1" descr="preencoded.png"/>
          <p:cNvPicPr>
            <a:picLocks noChangeAspect="1"/>
          </p:cNvPicPr>
          <p:nvPr/>
        </p:nvPicPr>
        <p:blipFill>
          <a:blip r:embed="rId4"/>
          <a:stretch>
            <a:fillRect/>
          </a:stretch>
        </p:blipFill>
        <p:spPr>
          <a:xfrm>
            <a:off x="4800600" y="1078992"/>
            <a:ext cx="329184" cy="329184"/>
          </a:xfrm>
          <a:prstGeom prst="rect">
            <a:avLst/>
          </a:prstGeom>
        </p:spPr>
      </p:pic>
      <p:sp>
        <p:nvSpPr>
          <p:cNvPr id="11" name="Text 7"/>
          <p:cNvSpPr/>
          <p:nvPr/>
        </p:nvSpPr>
        <p:spPr>
          <a:xfrm>
            <a:off x="5257800" y="1051560"/>
            <a:ext cx="3200400" cy="384048"/>
          </a:xfrm>
          <a:prstGeom prst="rect">
            <a:avLst/>
          </a:prstGeom>
          <a:noFill/>
          <a:ln/>
        </p:spPr>
        <p:txBody>
          <a:bodyPr wrap="square" lIns="0" tIns="0" rIns="0" bIns="0" rtlCol="0" anchor="ctr"/>
          <a:lstStyle/>
          <a:p>
            <a:pPr marL="0" indent="0">
              <a:buNone/>
            </a:pPr>
            <a:r>
              <a:rPr lang="en-US" sz="1300" b="1" dirty="0">
                <a:solidFill>
                  <a:srgbClr val="FD7E4F"/>
                </a:solidFill>
                <a:latin typeface="Calibri" pitchFamily="34" charset="0"/>
                <a:ea typeface="Calibri" pitchFamily="34" charset="-122"/>
                <a:cs typeface="Calibri" pitchFamily="34" charset="-120"/>
              </a:rPr>
              <a:t>OUR APPROACH</a:t>
            </a:r>
            <a:endParaRPr lang="en-US" sz="1300" dirty="0"/>
          </a:p>
        </p:txBody>
      </p:sp>
      <p:sp>
        <p:nvSpPr>
          <p:cNvPr id="12" name="Shape 8"/>
          <p:cNvSpPr/>
          <p:nvPr/>
        </p:nvSpPr>
        <p:spPr>
          <a:xfrm>
            <a:off x="4800600" y="1508760"/>
            <a:ext cx="3794760" cy="2194560"/>
          </a:xfrm>
          <a:prstGeom prst="rect">
            <a:avLst/>
          </a:prstGeom>
          <a:solidFill>
            <a:srgbClr val="FFFFFF"/>
          </a:solidFill>
          <a:ln w="12700">
            <a:solidFill>
              <a:srgbClr val="FDDDD0"/>
            </a:solidFill>
            <a:prstDash val="solid"/>
          </a:ln>
        </p:spPr>
      </p:sp>
      <p:sp>
        <p:nvSpPr>
          <p:cNvPr id="13" name="Text 9"/>
          <p:cNvSpPr/>
          <p:nvPr/>
        </p:nvSpPr>
        <p:spPr>
          <a:xfrm>
            <a:off x="4983480" y="1600200"/>
            <a:ext cx="3474720" cy="2011680"/>
          </a:xfrm>
          <a:prstGeom prst="rect">
            <a:avLst/>
          </a:prstGeom>
          <a:noFill/>
          <a:ln/>
        </p:spPr>
        <p:txBody>
          <a:bodyPr wrap="square" lIns="0" tIns="0" rIns="0" bIns="0" rtlCol="0" anchor="t"/>
          <a:lstStyle/>
          <a:p>
            <a:pPr marL="0" indent="0">
              <a:buNone/>
            </a:pPr>
            <a:r>
              <a:rPr lang="en-US" sz="1200" i="1" dirty="0">
                <a:solidFill>
                  <a:srgbClr val="C0876E"/>
                </a:solidFill>
                <a:latin typeface="Calibri" pitchFamily="34" charset="0"/>
                <a:ea typeface="Calibri" pitchFamily="34" charset="-122"/>
                <a:cs typeface="Calibri" pitchFamily="34" charset="-120"/>
              </a:rPr>
              <a:t>Replace this with a high-level summary of your solution approach.</a:t>
            </a:r>
            <a:endParaRPr lang="en-US" sz="1200" dirty="0"/>
          </a:p>
          <a:p>
            <a:pPr marL="0" indent="0">
              <a:buNone/>
            </a:pPr>
            <a:endParaRPr lang="en-US" sz="1200" dirty="0"/>
          </a:p>
          <a:p>
            <a:pPr marL="0" indent="0">
              <a:buNone/>
            </a:pPr>
            <a:r>
              <a:rPr lang="en-US" sz="1200" i="1" dirty="0">
                <a:solidFill>
                  <a:srgbClr val="C0876E"/>
                </a:solidFill>
                <a:latin typeface="Calibri" pitchFamily="34" charset="0"/>
                <a:ea typeface="Calibri" pitchFamily="34" charset="-122"/>
                <a:cs typeface="Calibri" pitchFamily="34" charset="-120"/>
              </a:rPr>
              <a:t>• What is your core strategy / insight?</a:t>
            </a:r>
            <a:endParaRPr lang="en-US" sz="1200" dirty="0"/>
          </a:p>
          <a:p>
            <a:pPr marL="0" indent="0">
              <a:buNone/>
            </a:pPr>
            <a:r>
              <a:rPr lang="en-US" sz="1200" i="1" dirty="0">
                <a:solidFill>
                  <a:srgbClr val="C0876E"/>
                </a:solidFill>
                <a:latin typeface="Calibri" pitchFamily="34" charset="0"/>
                <a:ea typeface="Calibri" pitchFamily="34" charset="-122"/>
                <a:cs typeface="Calibri" pitchFamily="34" charset="-120"/>
              </a:rPr>
              <a:t>• How does your approach address what makes this hard?</a:t>
            </a:r>
            <a:endParaRPr lang="en-US" sz="1200" dirty="0"/>
          </a:p>
          <a:p>
            <a:pPr marL="0" indent="0">
              <a:buNone/>
            </a:pPr>
            <a:r>
              <a:rPr lang="en-US" sz="1200" i="1" dirty="0">
                <a:solidFill>
                  <a:srgbClr val="C0876E"/>
                </a:solidFill>
                <a:latin typeface="Calibri" pitchFamily="34" charset="0"/>
                <a:ea typeface="Calibri" pitchFamily="34" charset="-122"/>
                <a:cs typeface="Calibri" pitchFamily="34" charset="-120"/>
              </a:rPr>
              <a:t>• What alternatives did you consider and why did you reject them?</a:t>
            </a:r>
            <a:endParaRPr lang="en-US" sz="1200" dirty="0"/>
          </a:p>
        </p:txBody>
      </p:sp>
      <p:sp>
        <p:nvSpPr>
          <p:cNvPr id="15" name="Shape 11"/>
          <p:cNvSpPr/>
          <p:nvPr/>
        </p:nvSpPr>
        <p:spPr>
          <a:xfrm flipH="1" flipV="1">
            <a:off x="176784" y="254000"/>
            <a:ext cx="114300" cy="4272280"/>
          </a:xfrm>
          <a:prstGeom prst="rect">
            <a:avLst/>
          </a:prstGeom>
          <a:solidFill>
            <a:srgbClr val="FD7E4F"/>
          </a:solidFill>
          <a:ln/>
        </p:spPr>
      </p:sp>
      <p:sp>
        <p:nvSpPr>
          <p:cNvPr id="16" name="Text 12"/>
          <p:cNvSpPr/>
          <p:nvPr/>
        </p:nvSpPr>
        <p:spPr>
          <a:xfrm>
            <a:off x="777240" y="3931920"/>
            <a:ext cx="7589520" cy="594360"/>
          </a:xfrm>
          <a:prstGeom prst="rect">
            <a:avLst/>
          </a:prstGeom>
          <a:noFill/>
          <a:ln/>
        </p:spPr>
        <p:txBody>
          <a:bodyPr wrap="square" lIns="0" tIns="0" rIns="0" bIns="0" rtlCol="0" anchor="t"/>
          <a:lstStyle/>
          <a:p>
            <a:pPr marL="0" indent="0">
              <a:buNone/>
            </a:pPr>
            <a:r>
              <a:rPr lang="en-US" sz="1200" i="1" dirty="0">
                <a:solidFill>
                  <a:srgbClr val="C0876E"/>
                </a:solidFill>
                <a:latin typeface="Calibri" pitchFamily="34" charset="0"/>
                <a:ea typeface="Calibri" pitchFamily="34" charset="-122"/>
                <a:cs typeface="Calibri" pitchFamily="34" charset="-120"/>
              </a:rPr>
              <a:t>Key Insight: [Summarise your single most important idea in one sentence — what makes your approach different?]</a:t>
            </a:r>
            <a:endParaRPr lang="en-US" sz="1200" dirty="0"/>
          </a:p>
        </p:txBody>
      </p:sp>
      <p:pic>
        <p:nvPicPr>
          <p:cNvPr id="9" name="Picture 8">
            <a:extLst>
              <a:ext uri="{FF2B5EF4-FFF2-40B4-BE49-F238E27FC236}">
                <a16:creationId xmlns:a16="http://schemas.microsoft.com/office/drawing/2014/main" id="{6A2AD5E9-8C7E-4046-A2E0-309329A895E7}"/>
              </a:ext>
            </a:extLst>
          </p:cNvPr>
          <p:cNvPicPr>
            <a:picLocks noChangeAspect="1"/>
          </p:cNvPicPr>
          <p:nvPr/>
        </p:nvPicPr>
        <p:blipFill>
          <a:blip r:embed="rId5"/>
          <a:stretch>
            <a:fillRect/>
          </a:stretch>
        </p:blipFill>
        <p:spPr>
          <a:xfrm>
            <a:off x="457200" y="446618"/>
            <a:ext cx="8483600" cy="3371002"/>
          </a:xfrm>
          <a:prstGeom prst="rect">
            <a:avLst/>
          </a:prstGeom>
        </p:spPr>
      </p:pic>
      <p:pic>
        <p:nvPicPr>
          <p:cNvPr id="14" name="Picture 13">
            <a:extLst>
              <a:ext uri="{FF2B5EF4-FFF2-40B4-BE49-F238E27FC236}">
                <a16:creationId xmlns:a16="http://schemas.microsoft.com/office/drawing/2014/main" id="{A83E0064-3731-4EE1-A1BB-2CE76919772B}"/>
              </a:ext>
            </a:extLst>
          </p:cNvPr>
          <p:cNvPicPr>
            <a:picLocks noChangeAspect="1"/>
          </p:cNvPicPr>
          <p:nvPr/>
        </p:nvPicPr>
        <p:blipFill>
          <a:blip r:embed="rId6"/>
          <a:stretch>
            <a:fillRect/>
          </a:stretch>
        </p:blipFill>
        <p:spPr>
          <a:xfrm>
            <a:off x="457200" y="3393914"/>
            <a:ext cx="8483601" cy="1152686"/>
          </a:xfrm>
          <a:prstGeom prst="rect">
            <a:avLst/>
          </a:prstGeom>
        </p:spPr>
      </p:pic>
      <p:sp>
        <p:nvSpPr>
          <p:cNvPr id="18" name="Text 7">
            <a:extLst>
              <a:ext uri="{FF2B5EF4-FFF2-40B4-BE49-F238E27FC236}">
                <a16:creationId xmlns:a16="http://schemas.microsoft.com/office/drawing/2014/main" id="{7AC17B6A-38DB-423A-BF5A-8DA577B2E8C0}"/>
              </a:ext>
            </a:extLst>
          </p:cNvPr>
          <p:cNvSpPr/>
          <p:nvPr/>
        </p:nvSpPr>
        <p:spPr>
          <a:xfrm>
            <a:off x="10508701" y="-503554"/>
            <a:ext cx="651602" cy="99930"/>
          </a:xfrm>
          <a:prstGeom prst="rect">
            <a:avLst/>
          </a:prstGeom>
          <a:noFill/>
          <a:ln/>
        </p:spPr>
        <p:txBody>
          <a:bodyPr wrap="square" lIns="0" tIns="0" rIns="0" bIns="0" rtlCol="0" anchor="ctr"/>
          <a:lstStyle/>
          <a:p>
            <a:pPr marL="0" indent="0">
              <a:buNone/>
            </a:pPr>
            <a:endParaRPr lang="en-US" sz="1300" dirty="0"/>
          </a:p>
        </p:txBody>
      </p:sp>
      <p:pic>
        <p:nvPicPr>
          <p:cNvPr id="19" name="Picture 2" descr="Kobie | LinkedIn">
            <a:extLst>
              <a:ext uri="{FF2B5EF4-FFF2-40B4-BE49-F238E27FC236}">
                <a16:creationId xmlns:a16="http://schemas.microsoft.com/office/drawing/2014/main" id="{FC726964-BF70-482C-97B9-8126D014604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26018" y="64135"/>
            <a:ext cx="548640" cy="548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0354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7F5"/>
        </a:solidFill>
        <a:effectLst/>
      </p:bgPr>
    </p:bg>
    <p:spTree>
      <p:nvGrpSpPr>
        <p:cNvPr id="1" name=""/>
        <p:cNvGrpSpPr/>
        <p:nvPr/>
      </p:nvGrpSpPr>
      <p:grpSpPr>
        <a:xfrm>
          <a:off x="0" y="0"/>
          <a:ext cx="0" cy="0"/>
          <a:chOff x="0" y="0"/>
          <a:chExt cx="0" cy="0"/>
        </a:xfrm>
      </p:grpSpPr>
      <p:sp>
        <p:nvSpPr>
          <p:cNvPr id="2" name="Shape 0"/>
          <p:cNvSpPr/>
          <p:nvPr/>
        </p:nvSpPr>
        <p:spPr>
          <a:xfrm>
            <a:off x="0" y="4800600"/>
            <a:ext cx="9144000" cy="342900"/>
          </a:xfrm>
          <a:prstGeom prst="rect">
            <a:avLst/>
          </a:prstGeom>
          <a:solidFill>
            <a:srgbClr val="2D1A12"/>
          </a:solidFill>
          <a:ln/>
        </p:spPr>
      </p:sp>
      <p:sp>
        <p:nvSpPr>
          <p:cNvPr id="3" name="Text 1"/>
          <p:cNvSpPr/>
          <p:nvPr/>
        </p:nvSpPr>
        <p:spPr>
          <a:xfrm>
            <a:off x="457200" y="4818888"/>
            <a:ext cx="3657600" cy="301752"/>
          </a:xfrm>
          <a:prstGeom prst="rect">
            <a:avLst/>
          </a:prstGeom>
          <a:noFill/>
          <a:ln/>
        </p:spPr>
        <p:txBody>
          <a:bodyPr wrap="square" lIns="0" tIns="0" rIns="0" bIns="0" rtlCol="0" anchor="ctr"/>
          <a:lstStyle/>
          <a:p>
            <a:pPr marL="0" indent="0">
              <a:buNone/>
            </a:pPr>
            <a:r>
              <a:rPr lang="en-US" sz="800" b="1" kern="0" spc="200" dirty="0">
                <a:solidFill>
                  <a:srgbClr val="FD7E4F"/>
                </a:solidFill>
                <a:latin typeface="Calibri" pitchFamily="34" charset="0"/>
                <a:ea typeface="Calibri" pitchFamily="34" charset="-122"/>
                <a:cs typeface="Calibri" pitchFamily="34" charset="-120"/>
              </a:rPr>
              <a:t>KOBIE LAUNCHPAD 2026</a:t>
            </a:r>
            <a:endParaRPr lang="en-US" sz="800" dirty="0"/>
          </a:p>
        </p:txBody>
      </p:sp>
      <p:sp>
        <p:nvSpPr>
          <p:cNvPr id="4" name="Text 2"/>
          <p:cNvSpPr/>
          <p:nvPr/>
        </p:nvSpPr>
        <p:spPr>
          <a:xfrm>
            <a:off x="7772400" y="4818888"/>
            <a:ext cx="914400" cy="301752"/>
          </a:xfrm>
          <a:prstGeom prst="rect">
            <a:avLst/>
          </a:prstGeom>
          <a:noFill/>
          <a:ln/>
        </p:spPr>
        <p:txBody>
          <a:bodyPr wrap="square" lIns="0" tIns="0" rIns="0" bIns="0" rtlCol="0" anchor="ctr"/>
          <a:lstStyle/>
          <a:p>
            <a:pPr marL="0" indent="0" algn="r">
              <a:buNone/>
            </a:pPr>
            <a:r>
              <a:rPr lang="en-US" sz="800" dirty="0">
                <a:solidFill>
                  <a:srgbClr val="9CA3AF"/>
                </a:solidFill>
                <a:latin typeface="Calibri" pitchFamily="34" charset="0"/>
                <a:ea typeface="Calibri" pitchFamily="34" charset="-122"/>
                <a:cs typeface="Calibri" pitchFamily="34" charset="-120"/>
              </a:rPr>
              <a:t>4 / 13</a:t>
            </a:r>
            <a:endParaRPr lang="en-US" sz="800" dirty="0"/>
          </a:p>
        </p:txBody>
      </p:sp>
      <p:sp>
        <p:nvSpPr>
          <p:cNvPr id="5" name="Text 3"/>
          <p:cNvSpPr/>
          <p:nvPr/>
        </p:nvSpPr>
        <p:spPr>
          <a:xfrm>
            <a:off x="2041803" y="331792"/>
            <a:ext cx="7315200" cy="548640"/>
          </a:xfrm>
          <a:prstGeom prst="rect">
            <a:avLst/>
          </a:prstGeom>
          <a:noFill/>
          <a:ln/>
        </p:spPr>
        <p:txBody>
          <a:bodyPr wrap="square" lIns="0" tIns="0" rIns="0" bIns="0" rtlCol="0" anchor="ctr"/>
          <a:lstStyle/>
          <a:p>
            <a:pPr marL="0" indent="0">
              <a:buNone/>
            </a:pPr>
            <a:r>
              <a:rPr lang="en-US" sz="2000" b="1" dirty="0">
                <a:solidFill>
                  <a:srgbClr val="1F2937"/>
                </a:solidFill>
                <a:latin typeface="Georgia" pitchFamily="34" charset="0"/>
                <a:ea typeface="Georgia" pitchFamily="34" charset="-122"/>
                <a:cs typeface="Georgia" pitchFamily="34" charset="-120"/>
              </a:rPr>
              <a:t>Problem Understanding &amp; Approach</a:t>
            </a:r>
            <a:endParaRPr lang="en-US" sz="2000" dirty="0"/>
          </a:p>
        </p:txBody>
      </p:sp>
      <p:pic>
        <p:nvPicPr>
          <p:cNvPr id="6" name="Image 0" descr="preencoded.png"/>
          <p:cNvPicPr>
            <a:picLocks noChangeAspect="1"/>
          </p:cNvPicPr>
          <p:nvPr/>
        </p:nvPicPr>
        <p:blipFill>
          <a:blip r:embed="rId3"/>
          <a:stretch>
            <a:fillRect/>
          </a:stretch>
        </p:blipFill>
        <p:spPr>
          <a:xfrm>
            <a:off x="548640" y="1078992"/>
            <a:ext cx="329184" cy="329184"/>
          </a:xfrm>
          <a:prstGeom prst="rect">
            <a:avLst/>
          </a:prstGeom>
        </p:spPr>
      </p:pic>
      <p:sp>
        <p:nvSpPr>
          <p:cNvPr id="7" name="Text 4"/>
          <p:cNvSpPr/>
          <p:nvPr/>
        </p:nvSpPr>
        <p:spPr>
          <a:xfrm>
            <a:off x="1005840" y="1051560"/>
            <a:ext cx="3200400" cy="384048"/>
          </a:xfrm>
          <a:prstGeom prst="rect">
            <a:avLst/>
          </a:prstGeom>
          <a:noFill/>
          <a:ln/>
        </p:spPr>
        <p:txBody>
          <a:bodyPr wrap="square" lIns="0" tIns="0" rIns="0" bIns="0" rtlCol="0" anchor="ctr"/>
          <a:lstStyle/>
          <a:p>
            <a:pPr marL="0" indent="0">
              <a:buNone/>
            </a:pPr>
            <a:r>
              <a:rPr lang="en-US" sz="1300" b="1" dirty="0">
                <a:solidFill>
                  <a:srgbClr val="FD7E4F"/>
                </a:solidFill>
                <a:latin typeface="Calibri" pitchFamily="34" charset="0"/>
                <a:ea typeface="Calibri" pitchFamily="34" charset="-122"/>
                <a:cs typeface="Calibri" pitchFamily="34" charset="-120"/>
              </a:rPr>
              <a:t>WHAT WE UNDERSTAND</a:t>
            </a:r>
            <a:endParaRPr lang="en-US" sz="1300" dirty="0"/>
          </a:p>
        </p:txBody>
      </p:sp>
      <p:sp>
        <p:nvSpPr>
          <p:cNvPr id="8" name="Shape 5"/>
          <p:cNvSpPr/>
          <p:nvPr/>
        </p:nvSpPr>
        <p:spPr>
          <a:xfrm>
            <a:off x="548640" y="1508760"/>
            <a:ext cx="3794760" cy="2194560"/>
          </a:xfrm>
          <a:prstGeom prst="rect">
            <a:avLst/>
          </a:prstGeom>
          <a:solidFill>
            <a:srgbClr val="FFFFFF"/>
          </a:solidFill>
          <a:ln w="12700">
            <a:solidFill>
              <a:srgbClr val="FDDDD0"/>
            </a:solidFill>
            <a:prstDash val="solid"/>
          </a:ln>
        </p:spPr>
      </p:sp>
      <p:pic>
        <p:nvPicPr>
          <p:cNvPr id="10" name="Image 1" descr="preencoded.png"/>
          <p:cNvPicPr>
            <a:picLocks noChangeAspect="1"/>
          </p:cNvPicPr>
          <p:nvPr/>
        </p:nvPicPr>
        <p:blipFill>
          <a:blip r:embed="rId4"/>
          <a:stretch>
            <a:fillRect/>
          </a:stretch>
        </p:blipFill>
        <p:spPr>
          <a:xfrm>
            <a:off x="4800600" y="1078992"/>
            <a:ext cx="329184" cy="329184"/>
          </a:xfrm>
          <a:prstGeom prst="rect">
            <a:avLst/>
          </a:prstGeom>
        </p:spPr>
      </p:pic>
      <p:sp>
        <p:nvSpPr>
          <p:cNvPr id="11" name="Text 7"/>
          <p:cNvSpPr/>
          <p:nvPr/>
        </p:nvSpPr>
        <p:spPr>
          <a:xfrm>
            <a:off x="5257800" y="1051560"/>
            <a:ext cx="3200400" cy="384048"/>
          </a:xfrm>
          <a:prstGeom prst="rect">
            <a:avLst/>
          </a:prstGeom>
          <a:noFill/>
          <a:ln/>
        </p:spPr>
        <p:txBody>
          <a:bodyPr wrap="square" lIns="0" tIns="0" rIns="0" bIns="0" rtlCol="0" anchor="ctr"/>
          <a:lstStyle/>
          <a:p>
            <a:pPr marL="0" indent="0">
              <a:buNone/>
            </a:pPr>
            <a:r>
              <a:rPr lang="en-US" sz="1300" b="1" dirty="0">
                <a:solidFill>
                  <a:srgbClr val="FD7E4F"/>
                </a:solidFill>
                <a:latin typeface="Calibri" pitchFamily="34" charset="0"/>
                <a:ea typeface="Calibri" pitchFamily="34" charset="-122"/>
                <a:cs typeface="Calibri" pitchFamily="34" charset="-120"/>
              </a:rPr>
              <a:t>OUR APPROACH</a:t>
            </a:r>
            <a:endParaRPr lang="en-US" sz="1300" dirty="0"/>
          </a:p>
        </p:txBody>
      </p:sp>
      <p:sp>
        <p:nvSpPr>
          <p:cNvPr id="12" name="Shape 8"/>
          <p:cNvSpPr/>
          <p:nvPr/>
        </p:nvSpPr>
        <p:spPr>
          <a:xfrm>
            <a:off x="4800600" y="1508760"/>
            <a:ext cx="3794760" cy="2194560"/>
          </a:xfrm>
          <a:prstGeom prst="rect">
            <a:avLst/>
          </a:prstGeom>
          <a:solidFill>
            <a:srgbClr val="FFFFFF"/>
          </a:solidFill>
          <a:ln w="12700">
            <a:solidFill>
              <a:srgbClr val="FDDDD0"/>
            </a:solidFill>
            <a:prstDash val="solid"/>
          </a:ln>
        </p:spPr>
      </p:sp>
      <p:sp>
        <p:nvSpPr>
          <p:cNvPr id="13" name="Text 9"/>
          <p:cNvSpPr/>
          <p:nvPr/>
        </p:nvSpPr>
        <p:spPr>
          <a:xfrm>
            <a:off x="4983480" y="1600200"/>
            <a:ext cx="3474720" cy="2011680"/>
          </a:xfrm>
          <a:prstGeom prst="rect">
            <a:avLst/>
          </a:prstGeom>
          <a:noFill/>
          <a:ln/>
        </p:spPr>
        <p:txBody>
          <a:bodyPr wrap="square" lIns="0" tIns="0" rIns="0" bIns="0" rtlCol="0" anchor="t"/>
          <a:lstStyle/>
          <a:p>
            <a:pPr marL="0" indent="0">
              <a:buNone/>
            </a:pPr>
            <a:r>
              <a:rPr lang="en-US" sz="1200" i="1" dirty="0">
                <a:solidFill>
                  <a:srgbClr val="C0876E"/>
                </a:solidFill>
                <a:latin typeface="Calibri" pitchFamily="34" charset="0"/>
                <a:ea typeface="Calibri" pitchFamily="34" charset="-122"/>
                <a:cs typeface="Calibri" pitchFamily="34" charset="-120"/>
              </a:rPr>
              <a:t>Replace this with a high-level summary of your solution approach.</a:t>
            </a:r>
            <a:endParaRPr lang="en-US" sz="1200" dirty="0"/>
          </a:p>
          <a:p>
            <a:pPr marL="0" indent="0">
              <a:buNone/>
            </a:pPr>
            <a:endParaRPr lang="en-US" sz="1200" dirty="0"/>
          </a:p>
          <a:p>
            <a:pPr marL="0" indent="0">
              <a:buNone/>
            </a:pPr>
            <a:r>
              <a:rPr lang="en-US" sz="1200" i="1" dirty="0">
                <a:solidFill>
                  <a:srgbClr val="C0876E"/>
                </a:solidFill>
                <a:latin typeface="Calibri" pitchFamily="34" charset="0"/>
                <a:ea typeface="Calibri" pitchFamily="34" charset="-122"/>
                <a:cs typeface="Calibri" pitchFamily="34" charset="-120"/>
              </a:rPr>
              <a:t>• What is your core strategy / insight?</a:t>
            </a:r>
            <a:endParaRPr lang="en-US" sz="1200" dirty="0"/>
          </a:p>
          <a:p>
            <a:pPr marL="0" indent="0">
              <a:buNone/>
            </a:pPr>
            <a:r>
              <a:rPr lang="en-US" sz="1200" i="1" dirty="0">
                <a:solidFill>
                  <a:srgbClr val="C0876E"/>
                </a:solidFill>
                <a:latin typeface="Calibri" pitchFamily="34" charset="0"/>
                <a:ea typeface="Calibri" pitchFamily="34" charset="-122"/>
                <a:cs typeface="Calibri" pitchFamily="34" charset="-120"/>
              </a:rPr>
              <a:t>• How does your approach address what makes this hard?</a:t>
            </a:r>
            <a:endParaRPr lang="en-US" sz="1200" dirty="0"/>
          </a:p>
          <a:p>
            <a:pPr marL="0" indent="0">
              <a:buNone/>
            </a:pPr>
            <a:r>
              <a:rPr lang="en-US" sz="1200" i="1" dirty="0">
                <a:solidFill>
                  <a:srgbClr val="C0876E"/>
                </a:solidFill>
                <a:latin typeface="Calibri" pitchFamily="34" charset="0"/>
                <a:ea typeface="Calibri" pitchFamily="34" charset="-122"/>
                <a:cs typeface="Calibri" pitchFamily="34" charset="-120"/>
              </a:rPr>
              <a:t>• What alternatives did you consider and why did you reject them?</a:t>
            </a:r>
            <a:endParaRPr lang="en-US" sz="1200" dirty="0"/>
          </a:p>
        </p:txBody>
      </p:sp>
      <p:sp>
        <p:nvSpPr>
          <p:cNvPr id="15" name="Shape 11"/>
          <p:cNvSpPr/>
          <p:nvPr/>
        </p:nvSpPr>
        <p:spPr>
          <a:xfrm flipH="1" flipV="1">
            <a:off x="144629" y="187960"/>
            <a:ext cx="71221" cy="4358640"/>
          </a:xfrm>
          <a:prstGeom prst="rect">
            <a:avLst/>
          </a:prstGeom>
          <a:solidFill>
            <a:srgbClr val="FD7E4F"/>
          </a:solidFill>
          <a:ln/>
        </p:spPr>
      </p:sp>
      <p:sp>
        <p:nvSpPr>
          <p:cNvPr id="16" name="Text 12"/>
          <p:cNvSpPr/>
          <p:nvPr/>
        </p:nvSpPr>
        <p:spPr>
          <a:xfrm>
            <a:off x="777240" y="3931920"/>
            <a:ext cx="7589520" cy="594360"/>
          </a:xfrm>
          <a:prstGeom prst="rect">
            <a:avLst/>
          </a:prstGeom>
          <a:noFill/>
          <a:ln/>
        </p:spPr>
        <p:txBody>
          <a:bodyPr wrap="square" lIns="0" tIns="0" rIns="0" bIns="0" rtlCol="0" anchor="t"/>
          <a:lstStyle/>
          <a:p>
            <a:pPr marL="0" indent="0">
              <a:buNone/>
            </a:pPr>
            <a:r>
              <a:rPr lang="en-US" sz="1200" i="1" dirty="0">
                <a:solidFill>
                  <a:srgbClr val="C0876E"/>
                </a:solidFill>
                <a:latin typeface="Calibri" pitchFamily="34" charset="0"/>
                <a:ea typeface="Calibri" pitchFamily="34" charset="-122"/>
                <a:cs typeface="Calibri" pitchFamily="34" charset="-120"/>
              </a:rPr>
              <a:t>Key Insight: [Summarise your single most important idea in one sentence — what makes your approach different?]</a:t>
            </a:r>
            <a:endParaRPr lang="en-US" sz="1200" dirty="0"/>
          </a:p>
        </p:txBody>
      </p:sp>
      <p:pic>
        <p:nvPicPr>
          <p:cNvPr id="17" name="Picture 16">
            <a:extLst>
              <a:ext uri="{FF2B5EF4-FFF2-40B4-BE49-F238E27FC236}">
                <a16:creationId xmlns:a16="http://schemas.microsoft.com/office/drawing/2014/main" id="{91D76FAE-663C-492D-A934-6937D10C804E}"/>
              </a:ext>
            </a:extLst>
          </p:cNvPr>
          <p:cNvPicPr>
            <a:picLocks noChangeAspect="1"/>
          </p:cNvPicPr>
          <p:nvPr/>
        </p:nvPicPr>
        <p:blipFill>
          <a:blip r:embed="rId5"/>
          <a:stretch>
            <a:fillRect/>
          </a:stretch>
        </p:blipFill>
        <p:spPr>
          <a:xfrm>
            <a:off x="457200" y="878366"/>
            <a:ext cx="8318399" cy="3307554"/>
          </a:xfrm>
          <a:prstGeom prst="rect">
            <a:avLst/>
          </a:prstGeom>
        </p:spPr>
      </p:pic>
      <p:sp>
        <p:nvSpPr>
          <p:cNvPr id="18" name="Text 7">
            <a:extLst>
              <a:ext uri="{FF2B5EF4-FFF2-40B4-BE49-F238E27FC236}">
                <a16:creationId xmlns:a16="http://schemas.microsoft.com/office/drawing/2014/main" id="{490A785B-DB6C-4F44-813C-31095C274AFF}"/>
              </a:ext>
            </a:extLst>
          </p:cNvPr>
          <p:cNvSpPr/>
          <p:nvPr/>
        </p:nvSpPr>
        <p:spPr>
          <a:xfrm>
            <a:off x="10055098" y="-503555"/>
            <a:ext cx="1105205" cy="119823"/>
          </a:xfrm>
          <a:prstGeom prst="rect">
            <a:avLst/>
          </a:prstGeom>
          <a:noFill/>
          <a:ln/>
        </p:spPr>
        <p:txBody>
          <a:bodyPr wrap="square" lIns="0" tIns="0" rIns="0" bIns="0" rtlCol="0" anchor="ctr"/>
          <a:lstStyle/>
          <a:p>
            <a:pPr marL="0" indent="0">
              <a:buNone/>
            </a:pPr>
            <a:endParaRPr lang="en-US" sz="1300" dirty="0"/>
          </a:p>
        </p:txBody>
      </p:sp>
      <p:pic>
        <p:nvPicPr>
          <p:cNvPr id="19" name="Picture 2" descr="Kobie | LinkedIn">
            <a:extLst>
              <a:ext uri="{FF2B5EF4-FFF2-40B4-BE49-F238E27FC236}">
                <a16:creationId xmlns:a16="http://schemas.microsoft.com/office/drawing/2014/main" id="{3864C190-EA69-442A-8FE7-2F0BF279A14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16798" y="64135"/>
            <a:ext cx="657860" cy="657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0829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800600"/>
            <a:ext cx="9144000" cy="342900"/>
          </a:xfrm>
          <a:prstGeom prst="rect">
            <a:avLst/>
          </a:prstGeom>
          <a:solidFill>
            <a:srgbClr val="2D1A12"/>
          </a:solidFill>
          <a:ln/>
        </p:spPr>
      </p:sp>
      <p:sp>
        <p:nvSpPr>
          <p:cNvPr id="3" name="Text 1"/>
          <p:cNvSpPr/>
          <p:nvPr/>
        </p:nvSpPr>
        <p:spPr>
          <a:xfrm>
            <a:off x="457200" y="4818888"/>
            <a:ext cx="3657600" cy="301752"/>
          </a:xfrm>
          <a:prstGeom prst="rect">
            <a:avLst/>
          </a:prstGeom>
          <a:noFill/>
          <a:ln/>
        </p:spPr>
        <p:txBody>
          <a:bodyPr wrap="square" lIns="0" tIns="0" rIns="0" bIns="0" rtlCol="0" anchor="ctr"/>
          <a:lstStyle/>
          <a:p>
            <a:pPr marL="0" indent="0">
              <a:buNone/>
            </a:pPr>
            <a:r>
              <a:rPr lang="en-US" sz="800" b="1" kern="0" spc="200" dirty="0">
                <a:solidFill>
                  <a:srgbClr val="FD7E4F"/>
                </a:solidFill>
                <a:latin typeface="Calibri" pitchFamily="34" charset="0"/>
                <a:ea typeface="Calibri" pitchFamily="34" charset="-122"/>
                <a:cs typeface="Calibri" pitchFamily="34" charset="-120"/>
              </a:rPr>
              <a:t>KOBIE LAUNCHPAD 2026</a:t>
            </a:r>
            <a:endParaRPr lang="en-US" sz="800" dirty="0"/>
          </a:p>
        </p:txBody>
      </p:sp>
      <p:sp>
        <p:nvSpPr>
          <p:cNvPr id="4" name="Text 2"/>
          <p:cNvSpPr/>
          <p:nvPr/>
        </p:nvSpPr>
        <p:spPr>
          <a:xfrm>
            <a:off x="7772400" y="4818888"/>
            <a:ext cx="914400" cy="301752"/>
          </a:xfrm>
          <a:prstGeom prst="rect">
            <a:avLst/>
          </a:prstGeom>
          <a:noFill/>
          <a:ln/>
        </p:spPr>
        <p:txBody>
          <a:bodyPr wrap="square" lIns="0" tIns="0" rIns="0" bIns="0" rtlCol="0" anchor="ctr"/>
          <a:lstStyle/>
          <a:p>
            <a:pPr marL="0" indent="0" algn="r">
              <a:buNone/>
            </a:pPr>
            <a:r>
              <a:rPr lang="en-US" sz="800" dirty="0">
                <a:solidFill>
                  <a:srgbClr val="9CA3AF"/>
                </a:solidFill>
                <a:latin typeface="Calibri" pitchFamily="34" charset="0"/>
                <a:ea typeface="Calibri" pitchFamily="34" charset="-122"/>
                <a:cs typeface="Calibri" pitchFamily="34" charset="-120"/>
              </a:rPr>
              <a:t>5 /1 3</a:t>
            </a:r>
            <a:endParaRPr lang="en-US" sz="800" dirty="0"/>
          </a:p>
        </p:txBody>
      </p:sp>
      <p:sp>
        <p:nvSpPr>
          <p:cNvPr id="6" name="Shape 4"/>
          <p:cNvSpPr/>
          <p:nvPr/>
        </p:nvSpPr>
        <p:spPr>
          <a:xfrm>
            <a:off x="548640" y="1026160"/>
            <a:ext cx="8046720" cy="2468880"/>
          </a:xfrm>
          <a:prstGeom prst="rect">
            <a:avLst/>
          </a:prstGeom>
          <a:solidFill>
            <a:srgbClr val="FFF0EA"/>
          </a:solidFill>
          <a:ln w="12700">
            <a:solidFill>
              <a:srgbClr val="FDDDD0"/>
            </a:solidFill>
            <a:prstDash val="solid"/>
          </a:ln>
        </p:spPr>
      </p:sp>
      <p:sp>
        <p:nvSpPr>
          <p:cNvPr id="7" name="Text 5"/>
          <p:cNvSpPr/>
          <p:nvPr/>
        </p:nvSpPr>
        <p:spPr>
          <a:xfrm>
            <a:off x="777240" y="1097280"/>
            <a:ext cx="7589520" cy="2194560"/>
          </a:xfrm>
          <a:prstGeom prst="rect">
            <a:avLst/>
          </a:prstGeom>
          <a:noFill/>
          <a:ln/>
        </p:spPr>
        <p:txBody>
          <a:bodyPr wrap="square" lIns="0" tIns="0" rIns="0" bIns="0" rtlCol="0" anchor="ctr"/>
          <a:lstStyle/>
          <a:p>
            <a:pPr marL="0" indent="0" algn="ctr">
              <a:buNone/>
            </a:pPr>
            <a:r>
              <a:rPr lang="en-US" sz="1200" i="1" dirty="0">
                <a:solidFill>
                  <a:srgbClr val="C0876E"/>
                </a:solidFill>
                <a:latin typeface="Calibri" pitchFamily="34" charset="0"/>
                <a:ea typeface="Calibri" pitchFamily="34" charset="-122"/>
                <a:cs typeface="Calibri" pitchFamily="34" charset="-120"/>
              </a:rPr>
              <a:t>Replace this entire area with your architecture diagram or component layout.</a:t>
            </a:r>
            <a:endParaRPr lang="en-US" sz="1200" dirty="0"/>
          </a:p>
          <a:p>
            <a:pPr marL="0" indent="0" algn="ctr">
              <a:buNone/>
            </a:pPr>
            <a:endParaRPr lang="en-US" sz="1200" dirty="0"/>
          </a:p>
          <a:p>
            <a:pPr marL="0" indent="0" algn="ctr">
              <a:buNone/>
            </a:pPr>
            <a:r>
              <a:rPr lang="en-US" sz="1200" i="1" dirty="0">
                <a:solidFill>
                  <a:srgbClr val="C0876E"/>
                </a:solidFill>
                <a:latin typeface="Calibri" pitchFamily="34" charset="0"/>
                <a:ea typeface="Calibri" pitchFamily="34" charset="-122"/>
                <a:cs typeface="Calibri" pitchFamily="34" charset="-120"/>
              </a:rPr>
              <a:t>Show the key components of your system, how they interact, and the data flow between them.</a:t>
            </a:r>
            <a:endParaRPr lang="en-US" sz="1200" dirty="0"/>
          </a:p>
          <a:p>
            <a:pPr marL="0" indent="0" algn="ctr">
              <a:buNone/>
            </a:pPr>
            <a:r>
              <a:rPr lang="en-US" sz="1200" i="1" dirty="0">
                <a:solidFill>
                  <a:srgbClr val="C0876E"/>
                </a:solidFill>
                <a:latin typeface="Calibri" pitchFamily="34" charset="0"/>
                <a:ea typeface="Calibri" pitchFamily="34" charset="-122"/>
                <a:cs typeface="Calibri" pitchFamily="34" charset="-120"/>
              </a:rPr>
              <a:t>Use boxes, arrows, and labels. This is the most important visual in your presentation.</a:t>
            </a:r>
            <a:endParaRPr lang="en-US" sz="1200" dirty="0"/>
          </a:p>
          <a:p>
            <a:pPr marL="0" indent="0" algn="ctr">
              <a:buNone/>
            </a:pPr>
            <a:endParaRPr lang="en-US" sz="1200" dirty="0"/>
          </a:p>
          <a:p>
            <a:pPr marL="0" indent="0" algn="ctr">
              <a:buNone/>
            </a:pPr>
            <a:r>
              <a:rPr lang="en-US" sz="1200" i="1" dirty="0">
                <a:solidFill>
                  <a:srgbClr val="C0876E"/>
                </a:solidFill>
                <a:latin typeface="Calibri" pitchFamily="34" charset="0"/>
                <a:ea typeface="Calibri" pitchFamily="34" charset="-122"/>
                <a:cs typeface="Calibri" pitchFamily="34" charset="-120"/>
              </a:rPr>
              <a:t>Tip: Draw it on paper first, then recreate it here. Keep it clean — 4–6 components max.</a:t>
            </a:r>
            <a:endParaRPr lang="en-US" sz="1200" dirty="0"/>
          </a:p>
        </p:txBody>
      </p:sp>
      <p:sp>
        <p:nvSpPr>
          <p:cNvPr id="9" name="Text 7"/>
          <p:cNvSpPr/>
          <p:nvPr/>
        </p:nvSpPr>
        <p:spPr>
          <a:xfrm>
            <a:off x="731520" y="3703320"/>
            <a:ext cx="3383280" cy="274320"/>
          </a:xfrm>
          <a:prstGeom prst="rect">
            <a:avLst/>
          </a:prstGeom>
          <a:noFill/>
          <a:ln/>
        </p:spPr>
        <p:txBody>
          <a:bodyPr wrap="square" lIns="0" tIns="0" rIns="0" bIns="0" rtlCol="0" anchor="ctr"/>
          <a:lstStyle/>
          <a:p>
            <a:pPr marL="0" indent="0">
              <a:buNone/>
            </a:pPr>
            <a:r>
              <a:rPr lang="en-US" sz="1000" b="1" dirty="0">
                <a:solidFill>
                  <a:srgbClr val="FD7E4F"/>
                </a:solidFill>
                <a:latin typeface="Calibri" pitchFamily="34" charset="0"/>
                <a:ea typeface="Calibri" pitchFamily="34" charset="-122"/>
                <a:cs typeface="Calibri" pitchFamily="34" charset="-120"/>
              </a:rPr>
              <a:t>TOOLS &amp; TECH CHOICES</a:t>
            </a:r>
            <a:endParaRPr lang="en-US" sz="1000" dirty="0"/>
          </a:p>
        </p:txBody>
      </p:sp>
      <p:sp>
        <p:nvSpPr>
          <p:cNvPr id="10" name="Text 8"/>
          <p:cNvSpPr/>
          <p:nvPr/>
        </p:nvSpPr>
        <p:spPr>
          <a:xfrm>
            <a:off x="731520" y="3977640"/>
            <a:ext cx="3383280" cy="54864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[List key tools/libraries/models and WHY you chose them — not just names]</a:t>
            </a:r>
            <a:endParaRPr lang="en-US" sz="1050" dirty="0"/>
          </a:p>
        </p:txBody>
      </p:sp>
      <p:sp>
        <p:nvSpPr>
          <p:cNvPr id="12" name="Text 10"/>
          <p:cNvSpPr/>
          <p:nvPr/>
        </p:nvSpPr>
        <p:spPr>
          <a:xfrm>
            <a:off x="4983480" y="3703320"/>
            <a:ext cx="3383280" cy="274320"/>
          </a:xfrm>
          <a:prstGeom prst="rect">
            <a:avLst/>
          </a:prstGeom>
          <a:noFill/>
          <a:ln/>
        </p:spPr>
        <p:txBody>
          <a:bodyPr wrap="square" lIns="0" tIns="0" rIns="0" bIns="0" rtlCol="0" anchor="ctr"/>
          <a:lstStyle/>
          <a:p>
            <a:pPr marL="0" indent="0">
              <a:buNone/>
            </a:pPr>
            <a:r>
              <a:rPr lang="en-US" sz="1000" b="1" dirty="0">
                <a:solidFill>
                  <a:srgbClr val="FD7E4F"/>
                </a:solidFill>
                <a:latin typeface="Calibri" pitchFamily="34" charset="0"/>
                <a:ea typeface="Calibri" pitchFamily="34" charset="-122"/>
                <a:cs typeface="Calibri" pitchFamily="34" charset="-120"/>
              </a:rPr>
              <a:t>EDGE CASES &amp; ERROR HANDLING</a:t>
            </a:r>
            <a:endParaRPr lang="en-US" sz="1000" dirty="0"/>
          </a:p>
        </p:txBody>
      </p:sp>
      <p:sp>
        <p:nvSpPr>
          <p:cNvPr id="13" name="Text 11"/>
          <p:cNvSpPr/>
          <p:nvPr/>
        </p:nvSpPr>
        <p:spPr>
          <a:xfrm>
            <a:off x="4983480" y="3977640"/>
            <a:ext cx="3383280" cy="54864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[How does your system handle failures, bad inputs, or unexpected scenarios?]</a:t>
            </a:r>
            <a:endParaRPr lang="en-US" sz="1050" dirty="0"/>
          </a:p>
        </p:txBody>
      </p:sp>
      <p:pic>
        <p:nvPicPr>
          <p:cNvPr id="15" name="Picture 14">
            <a:extLst>
              <a:ext uri="{FF2B5EF4-FFF2-40B4-BE49-F238E27FC236}">
                <a16:creationId xmlns:a16="http://schemas.microsoft.com/office/drawing/2014/main" id="{685BBD1D-C7BC-47C0-92F3-636A519A26B8}"/>
              </a:ext>
            </a:extLst>
          </p:cNvPr>
          <p:cNvPicPr>
            <a:picLocks noChangeAspect="1"/>
          </p:cNvPicPr>
          <p:nvPr/>
        </p:nvPicPr>
        <p:blipFill>
          <a:blip r:embed="rId3"/>
          <a:stretch>
            <a:fillRect/>
          </a:stretch>
        </p:blipFill>
        <p:spPr>
          <a:xfrm>
            <a:off x="0" y="162250"/>
            <a:ext cx="9144000" cy="4364030"/>
          </a:xfrm>
          <a:prstGeom prst="rect">
            <a:avLst/>
          </a:prstGeom>
        </p:spPr>
      </p:pic>
      <p:sp>
        <p:nvSpPr>
          <p:cNvPr id="16" name="Text 7">
            <a:extLst>
              <a:ext uri="{FF2B5EF4-FFF2-40B4-BE49-F238E27FC236}">
                <a16:creationId xmlns:a16="http://schemas.microsoft.com/office/drawing/2014/main" id="{DB26478D-B393-42F1-B676-E3EA1DD722ED}"/>
              </a:ext>
            </a:extLst>
          </p:cNvPr>
          <p:cNvSpPr/>
          <p:nvPr/>
        </p:nvSpPr>
        <p:spPr>
          <a:xfrm>
            <a:off x="10645252" y="-503555"/>
            <a:ext cx="515051" cy="87323"/>
          </a:xfrm>
          <a:prstGeom prst="rect">
            <a:avLst/>
          </a:prstGeom>
          <a:noFill/>
          <a:ln/>
        </p:spPr>
        <p:txBody>
          <a:bodyPr wrap="square" lIns="0" tIns="0" rIns="0" bIns="0" rtlCol="0" anchor="ctr"/>
          <a:lstStyle/>
          <a:p>
            <a:pPr marL="0" indent="0">
              <a:buNone/>
            </a:pPr>
            <a:endParaRPr lang="en-US" sz="1300" dirty="0"/>
          </a:p>
        </p:txBody>
      </p:sp>
      <p:pic>
        <p:nvPicPr>
          <p:cNvPr id="17" name="Picture 2" descr="Kobie | LinkedIn">
            <a:extLst>
              <a:ext uri="{FF2B5EF4-FFF2-40B4-BE49-F238E27FC236}">
                <a16:creationId xmlns:a16="http://schemas.microsoft.com/office/drawing/2014/main" id="{37F333FF-CAC3-4609-8A71-E81849979C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95232" y="64135"/>
            <a:ext cx="479425" cy="479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800600"/>
            <a:ext cx="9144000" cy="342900"/>
          </a:xfrm>
          <a:prstGeom prst="rect">
            <a:avLst/>
          </a:prstGeom>
          <a:solidFill>
            <a:srgbClr val="2D1A12"/>
          </a:solidFill>
          <a:ln/>
        </p:spPr>
      </p:sp>
      <p:sp>
        <p:nvSpPr>
          <p:cNvPr id="3" name="Text 1"/>
          <p:cNvSpPr/>
          <p:nvPr/>
        </p:nvSpPr>
        <p:spPr>
          <a:xfrm>
            <a:off x="457200" y="4818888"/>
            <a:ext cx="3657600" cy="301752"/>
          </a:xfrm>
          <a:prstGeom prst="rect">
            <a:avLst/>
          </a:prstGeom>
          <a:noFill/>
          <a:ln/>
        </p:spPr>
        <p:txBody>
          <a:bodyPr wrap="square" lIns="0" tIns="0" rIns="0" bIns="0" rtlCol="0" anchor="ctr"/>
          <a:lstStyle/>
          <a:p>
            <a:pPr marL="0" indent="0">
              <a:buNone/>
            </a:pPr>
            <a:r>
              <a:rPr lang="en-US" sz="800" b="1" kern="0" spc="200" dirty="0">
                <a:solidFill>
                  <a:srgbClr val="FD7E4F"/>
                </a:solidFill>
                <a:latin typeface="Calibri" pitchFamily="34" charset="0"/>
                <a:ea typeface="Calibri" pitchFamily="34" charset="-122"/>
                <a:cs typeface="Calibri" pitchFamily="34" charset="-120"/>
              </a:rPr>
              <a:t>KOBIE LAUNCHPAD 2026</a:t>
            </a:r>
            <a:endParaRPr lang="en-US" sz="800" dirty="0"/>
          </a:p>
        </p:txBody>
      </p:sp>
      <p:sp>
        <p:nvSpPr>
          <p:cNvPr id="4" name="Text 2"/>
          <p:cNvSpPr/>
          <p:nvPr/>
        </p:nvSpPr>
        <p:spPr>
          <a:xfrm>
            <a:off x="7772400" y="4818888"/>
            <a:ext cx="914400" cy="301752"/>
          </a:xfrm>
          <a:prstGeom prst="rect">
            <a:avLst/>
          </a:prstGeom>
          <a:noFill/>
          <a:ln/>
        </p:spPr>
        <p:txBody>
          <a:bodyPr wrap="square" lIns="0" tIns="0" rIns="0" bIns="0" rtlCol="0" anchor="ctr"/>
          <a:lstStyle/>
          <a:p>
            <a:pPr marL="0" indent="0" algn="r">
              <a:buNone/>
            </a:pPr>
            <a:r>
              <a:rPr lang="en-US" sz="800" dirty="0">
                <a:solidFill>
                  <a:srgbClr val="9CA3AF"/>
                </a:solidFill>
                <a:latin typeface="Calibri" pitchFamily="34" charset="0"/>
                <a:ea typeface="Calibri" pitchFamily="34" charset="-122"/>
                <a:cs typeface="Calibri" pitchFamily="34" charset="-120"/>
              </a:rPr>
              <a:t>6 / 13</a:t>
            </a:r>
            <a:endParaRPr lang="en-US" sz="800" dirty="0"/>
          </a:p>
        </p:txBody>
      </p:sp>
      <p:sp>
        <p:nvSpPr>
          <p:cNvPr id="6" name="Shape 4"/>
          <p:cNvSpPr/>
          <p:nvPr/>
        </p:nvSpPr>
        <p:spPr>
          <a:xfrm>
            <a:off x="548640" y="1026160"/>
            <a:ext cx="8046720" cy="2468880"/>
          </a:xfrm>
          <a:prstGeom prst="rect">
            <a:avLst/>
          </a:prstGeom>
          <a:solidFill>
            <a:srgbClr val="FFF0EA"/>
          </a:solidFill>
          <a:ln w="12700">
            <a:solidFill>
              <a:srgbClr val="FDDDD0"/>
            </a:solidFill>
            <a:prstDash val="solid"/>
          </a:ln>
        </p:spPr>
      </p:sp>
      <p:sp>
        <p:nvSpPr>
          <p:cNvPr id="7" name="Text 5"/>
          <p:cNvSpPr/>
          <p:nvPr/>
        </p:nvSpPr>
        <p:spPr>
          <a:xfrm>
            <a:off x="777240" y="1097280"/>
            <a:ext cx="7589520" cy="2194560"/>
          </a:xfrm>
          <a:prstGeom prst="rect">
            <a:avLst/>
          </a:prstGeom>
          <a:noFill/>
          <a:ln/>
        </p:spPr>
        <p:txBody>
          <a:bodyPr wrap="square" lIns="0" tIns="0" rIns="0" bIns="0" rtlCol="0" anchor="ctr"/>
          <a:lstStyle/>
          <a:p>
            <a:pPr marL="0" indent="0" algn="ctr">
              <a:buNone/>
            </a:pPr>
            <a:r>
              <a:rPr lang="en-US" sz="1200" i="1" dirty="0">
                <a:solidFill>
                  <a:srgbClr val="C0876E"/>
                </a:solidFill>
                <a:latin typeface="Calibri" pitchFamily="34" charset="0"/>
                <a:ea typeface="Calibri" pitchFamily="34" charset="-122"/>
                <a:cs typeface="Calibri" pitchFamily="34" charset="-120"/>
              </a:rPr>
              <a:t>Replace this entire area with your architecture diagram or component layout.</a:t>
            </a:r>
            <a:endParaRPr lang="en-US" sz="1200" dirty="0"/>
          </a:p>
          <a:p>
            <a:pPr marL="0" indent="0" algn="ctr">
              <a:buNone/>
            </a:pPr>
            <a:endParaRPr lang="en-US" sz="1200" dirty="0"/>
          </a:p>
          <a:p>
            <a:pPr marL="0" indent="0" algn="ctr">
              <a:buNone/>
            </a:pPr>
            <a:r>
              <a:rPr lang="en-US" sz="1200" i="1" dirty="0">
                <a:solidFill>
                  <a:srgbClr val="C0876E"/>
                </a:solidFill>
                <a:latin typeface="Calibri" pitchFamily="34" charset="0"/>
                <a:ea typeface="Calibri" pitchFamily="34" charset="-122"/>
                <a:cs typeface="Calibri" pitchFamily="34" charset="-120"/>
              </a:rPr>
              <a:t>Show the key components of your system, how they interact, and the data flow between them.</a:t>
            </a:r>
            <a:endParaRPr lang="en-US" sz="1200" dirty="0"/>
          </a:p>
          <a:p>
            <a:pPr marL="0" indent="0" algn="ctr">
              <a:buNone/>
            </a:pPr>
            <a:r>
              <a:rPr lang="en-US" sz="1200" i="1" dirty="0">
                <a:solidFill>
                  <a:srgbClr val="C0876E"/>
                </a:solidFill>
                <a:latin typeface="Calibri" pitchFamily="34" charset="0"/>
                <a:ea typeface="Calibri" pitchFamily="34" charset="-122"/>
                <a:cs typeface="Calibri" pitchFamily="34" charset="-120"/>
              </a:rPr>
              <a:t>Use boxes, arrows, and labels. This is the most important visual in your presentation.</a:t>
            </a:r>
            <a:endParaRPr lang="en-US" sz="1200" dirty="0"/>
          </a:p>
          <a:p>
            <a:pPr marL="0" indent="0" algn="ctr">
              <a:buNone/>
            </a:pPr>
            <a:endParaRPr lang="en-US" sz="1200" dirty="0"/>
          </a:p>
          <a:p>
            <a:pPr marL="0" indent="0" algn="ctr">
              <a:buNone/>
            </a:pPr>
            <a:r>
              <a:rPr lang="en-US" sz="1200" i="1" dirty="0">
                <a:solidFill>
                  <a:srgbClr val="C0876E"/>
                </a:solidFill>
                <a:latin typeface="Calibri" pitchFamily="34" charset="0"/>
                <a:ea typeface="Calibri" pitchFamily="34" charset="-122"/>
                <a:cs typeface="Calibri" pitchFamily="34" charset="-120"/>
              </a:rPr>
              <a:t>Tip: Draw it on paper first, then recreate it here. Keep it clean — 4–6 components max.</a:t>
            </a:r>
            <a:endParaRPr lang="en-US" sz="1200" dirty="0"/>
          </a:p>
        </p:txBody>
      </p:sp>
      <p:sp>
        <p:nvSpPr>
          <p:cNvPr id="9" name="Text 7"/>
          <p:cNvSpPr/>
          <p:nvPr/>
        </p:nvSpPr>
        <p:spPr>
          <a:xfrm>
            <a:off x="731520" y="3703320"/>
            <a:ext cx="3383280" cy="274320"/>
          </a:xfrm>
          <a:prstGeom prst="rect">
            <a:avLst/>
          </a:prstGeom>
          <a:noFill/>
          <a:ln/>
        </p:spPr>
        <p:txBody>
          <a:bodyPr wrap="square" lIns="0" tIns="0" rIns="0" bIns="0" rtlCol="0" anchor="ctr"/>
          <a:lstStyle/>
          <a:p>
            <a:pPr marL="0" indent="0">
              <a:buNone/>
            </a:pPr>
            <a:r>
              <a:rPr lang="en-US" sz="1000" b="1" dirty="0">
                <a:solidFill>
                  <a:srgbClr val="FD7E4F"/>
                </a:solidFill>
                <a:latin typeface="Calibri" pitchFamily="34" charset="0"/>
                <a:ea typeface="Calibri" pitchFamily="34" charset="-122"/>
                <a:cs typeface="Calibri" pitchFamily="34" charset="-120"/>
              </a:rPr>
              <a:t>TOOLS &amp; TECH CHOICES</a:t>
            </a:r>
            <a:endParaRPr lang="en-US" sz="1000" dirty="0"/>
          </a:p>
        </p:txBody>
      </p:sp>
      <p:sp>
        <p:nvSpPr>
          <p:cNvPr id="10" name="Text 8"/>
          <p:cNvSpPr/>
          <p:nvPr/>
        </p:nvSpPr>
        <p:spPr>
          <a:xfrm>
            <a:off x="731520" y="3977640"/>
            <a:ext cx="3383280" cy="54864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[List key tools/libraries/models and WHY you chose them — not just names]</a:t>
            </a:r>
            <a:endParaRPr lang="en-US" sz="1050" dirty="0"/>
          </a:p>
        </p:txBody>
      </p:sp>
      <p:sp>
        <p:nvSpPr>
          <p:cNvPr id="12" name="Text 10"/>
          <p:cNvSpPr/>
          <p:nvPr/>
        </p:nvSpPr>
        <p:spPr>
          <a:xfrm>
            <a:off x="4983480" y="3703320"/>
            <a:ext cx="3383280" cy="274320"/>
          </a:xfrm>
          <a:prstGeom prst="rect">
            <a:avLst/>
          </a:prstGeom>
          <a:noFill/>
          <a:ln/>
        </p:spPr>
        <p:txBody>
          <a:bodyPr wrap="square" lIns="0" tIns="0" rIns="0" bIns="0" rtlCol="0" anchor="ctr"/>
          <a:lstStyle/>
          <a:p>
            <a:pPr marL="0" indent="0">
              <a:buNone/>
            </a:pPr>
            <a:r>
              <a:rPr lang="en-US" sz="1000" b="1" dirty="0">
                <a:solidFill>
                  <a:srgbClr val="FD7E4F"/>
                </a:solidFill>
                <a:latin typeface="Calibri" pitchFamily="34" charset="0"/>
                <a:ea typeface="Calibri" pitchFamily="34" charset="-122"/>
                <a:cs typeface="Calibri" pitchFamily="34" charset="-120"/>
              </a:rPr>
              <a:t>EDGE CASES &amp; ERROR HANDLING</a:t>
            </a:r>
            <a:endParaRPr lang="en-US" sz="1000" dirty="0"/>
          </a:p>
        </p:txBody>
      </p:sp>
      <p:sp>
        <p:nvSpPr>
          <p:cNvPr id="13" name="Text 11"/>
          <p:cNvSpPr/>
          <p:nvPr/>
        </p:nvSpPr>
        <p:spPr>
          <a:xfrm>
            <a:off x="4983480" y="3977640"/>
            <a:ext cx="3383280" cy="54864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[How does your system handle failures, bad inputs, or unexpected scenarios?]</a:t>
            </a:r>
            <a:endParaRPr lang="en-US" sz="1050" dirty="0"/>
          </a:p>
        </p:txBody>
      </p:sp>
      <p:pic>
        <p:nvPicPr>
          <p:cNvPr id="5" name="Picture 4">
            <a:extLst>
              <a:ext uri="{FF2B5EF4-FFF2-40B4-BE49-F238E27FC236}">
                <a16:creationId xmlns:a16="http://schemas.microsoft.com/office/drawing/2014/main" id="{961E8EB8-46AE-44C8-97FE-1CB1B80B1C60}"/>
              </a:ext>
            </a:extLst>
          </p:cNvPr>
          <p:cNvPicPr>
            <a:picLocks noChangeAspect="1"/>
          </p:cNvPicPr>
          <p:nvPr/>
        </p:nvPicPr>
        <p:blipFill>
          <a:blip r:embed="rId3"/>
          <a:stretch>
            <a:fillRect/>
          </a:stretch>
        </p:blipFill>
        <p:spPr>
          <a:xfrm>
            <a:off x="69343" y="396113"/>
            <a:ext cx="8950960" cy="4351274"/>
          </a:xfrm>
          <a:prstGeom prst="rect">
            <a:avLst/>
          </a:prstGeom>
        </p:spPr>
      </p:pic>
      <p:sp>
        <p:nvSpPr>
          <p:cNvPr id="14" name="Text 7">
            <a:extLst>
              <a:ext uri="{FF2B5EF4-FFF2-40B4-BE49-F238E27FC236}">
                <a16:creationId xmlns:a16="http://schemas.microsoft.com/office/drawing/2014/main" id="{E83510A0-7997-4039-9C31-32910184C9B1}"/>
              </a:ext>
            </a:extLst>
          </p:cNvPr>
          <p:cNvSpPr/>
          <p:nvPr/>
        </p:nvSpPr>
        <p:spPr>
          <a:xfrm>
            <a:off x="10355082" y="-503554"/>
            <a:ext cx="805221" cy="106754"/>
          </a:xfrm>
          <a:prstGeom prst="rect">
            <a:avLst/>
          </a:prstGeom>
          <a:noFill/>
          <a:ln/>
        </p:spPr>
        <p:txBody>
          <a:bodyPr wrap="square" lIns="0" tIns="0" rIns="0" bIns="0" rtlCol="0" anchor="ctr"/>
          <a:lstStyle/>
          <a:p>
            <a:pPr marL="0" indent="0">
              <a:buNone/>
            </a:pPr>
            <a:endParaRPr lang="en-US" sz="1300" dirty="0"/>
          </a:p>
        </p:txBody>
      </p:sp>
      <p:pic>
        <p:nvPicPr>
          <p:cNvPr id="16" name="Picture 2" descr="Kobie | LinkedIn">
            <a:extLst>
              <a:ext uri="{FF2B5EF4-FFF2-40B4-BE49-F238E27FC236}">
                <a16:creationId xmlns:a16="http://schemas.microsoft.com/office/drawing/2014/main" id="{3FC1309F-19DC-44EF-A4E9-5B6219F479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8552" y="64135"/>
            <a:ext cx="586105" cy="5861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956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841240"/>
            <a:ext cx="9144000" cy="342900"/>
          </a:xfrm>
          <a:prstGeom prst="rect">
            <a:avLst/>
          </a:prstGeom>
          <a:solidFill>
            <a:srgbClr val="2D1A12"/>
          </a:solidFill>
          <a:ln/>
        </p:spPr>
      </p:sp>
      <p:sp>
        <p:nvSpPr>
          <p:cNvPr id="3" name="Text 1"/>
          <p:cNvSpPr/>
          <p:nvPr/>
        </p:nvSpPr>
        <p:spPr>
          <a:xfrm>
            <a:off x="457200" y="4818888"/>
            <a:ext cx="3657600" cy="301752"/>
          </a:xfrm>
          <a:prstGeom prst="rect">
            <a:avLst/>
          </a:prstGeom>
          <a:noFill/>
          <a:ln/>
        </p:spPr>
        <p:txBody>
          <a:bodyPr wrap="square" lIns="0" tIns="0" rIns="0" bIns="0" rtlCol="0" anchor="ctr"/>
          <a:lstStyle/>
          <a:p>
            <a:pPr marL="0" indent="0">
              <a:buNone/>
            </a:pPr>
            <a:r>
              <a:rPr lang="en-US" sz="800" b="1" kern="0" spc="200" dirty="0">
                <a:solidFill>
                  <a:srgbClr val="FD7E4F"/>
                </a:solidFill>
                <a:latin typeface="Calibri" pitchFamily="34" charset="0"/>
                <a:ea typeface="Calibri" pitchFamily="34" charset="-122"/>
                <a:cs typeface="Calibri" pitchFamily="34" charset="-120"/>
              </a:rPr>
              <a:t>KOBIE LAUNCHPAD 2026</a:t>
            </a:r>
            <a:endParaRPr lang="en-US" sz="800" dirty="0"/>
          </a:p>
        </p:txBody>
      </p:sp>
      <p:sp>
        <p:nvSpPr>
          <p:cNvPr id="4" name="Text 2"/>
          <p:cNvSpPr/>
          <p:nvPr/>
        </p:nvSpPr>
        <p:spPr>
          <a:xfrm>
            <a:off x="7772400" y="4818888"/>
            <a:ext cx="914400" cy="301752"/>
          </a:xfrm>
          <a:prstGeom prst="rect">
            <a:avLst/>
          </a:prstGeom>
          <a:noFill/>
          <a:ln/>
        </p:spPr>
        <p:txBody>
          <a:bodyPr wrap="square" lIns="0" tIns="0" rIns="0" bIns="0" rtlCol="0" anchor="ctr"/>
          <a:lstStyle/>
          <a:p>
            <a:pPr marL="0" indent="0" algn="r">
              <a:buNone/>
            </a:pPr>
            <a:r>
              <a:rPr lang="en-US" sz="800" dirty="0">
                <a:solidFill>
                  <a:srgbClr val="9CA3AF"/>
                </a:solidFill>
                <a:latin typeface="Calibri" pitchFamily="34" charset="0"/>
                <a:ea typeface="Calibri" pitchFamily="34" charset="-122"/>
                <a:cs typeface="Calibri" pitchFamily="34" charset="-120"/>
              </a:rPr>
              <a:t>7 / 13</a:t>
            </a:r>
            <a:endParaRPr lang="en-US" sz="800" dirty="0"/>
          </a:p>
        </p:txBody>
      </p:sp>
      <p:sp>
        <p:nvSpPr>
          <p:cNvPr id="6" name="Shape 4"/>
          <p:cNvSpPr/>
          <p:nvPr/>
        </p:nvSpPr>
        <p:spPr>
          <a:xfrm>
            <a:off x="548640" y="1026160"/>
            <a:ext cx="8046720" cy="2468880"/>
          </a:xfrm>
          <a:prstGeom prst="rect">
            <a:avLst/>
          </a:prstGeom>
          <a:solidFill>
            <a:srgbClr val="FFF0EA"/>
          </a:solidFill>
          <a:ln w="12700">
            <a:solidFill>
              <a:srgbClr val="FDDDD0"/>
            </a:solidFill>
            <a:prstDash val="solid"/>
          </a:ln>
        </p:spPr>
      </p:sp>
      <p:sp>
        <p:nvSpPr>
          <p:cNvPr id="7" name="Text 5"/>
          <p:cNvSpPr/>
          <p:nvPr/>
        </p:nvSpPr>
        <p:spPr>
          <a:xfrm>
            <a:off x="777240" y="1097280"/>
            <a:ext cx="7589520" cy="2194560"/>
          </a:xfrm>
          <a:prstGeom prst="rect">
            <a:avLst/>
          </a:prstGeom>
          <a:noFill/>
          <a:ln/>
        </p:spPr>
        <p:txBody>
          <a:bodyPr wrap="square" lIns="0" tIns="0" rIns="0" bIns="0" rtlCol="0" anchor="ctr"/>
          <a:lstStyle/>
          <a:p>
            <a:pPr marL="0" indent="0" algn="ctr">
              <a:buNone/>
            </a:pPr>
            <a:r>
              <a:rPr lang="en-US" sz="1200" i="1" dirty="0">
                <a:solidFill>
                  <a:srgbClr val="C0876E"/>
                </a:solidFill>
                <a:latin typeface="Calibri" pitchFamily="34" charset="0"/>
                <a:ea typeface="Calibri" pitchFamily="34" charset="-122"/>
                <a:cs typeface="Calibri" pitchFamily="34" charset="-120"/>
              </a:rPr>
              <a:t>Replace this entire area with your architecture diagram or component layout.</a:t>
            </a:r>
            <a:endParaRPr lang="en-US" sz="1200" dirty="0"/>
          </a:p>
          <a:p>
            <a:pPr marL="0" indent="0" algn="ctr">
              <a:buNone/>
            </a:pPr>
            <a:endParaRPr lang="en-US" sz="1200" dirty="0"/>
          </a:p>
          <a:p>
            <a:pPr marL="0" indent="0" algn="ctr">
              <a:buNone/>
            </a:pPr>
            <a:r>
              <a:rPr lang="en-US" sz="1200" i="1" dirty="0">
                <a:solidFill>
                  <a:srgbClr val="C0876E"/>
                </a:solidFill>
                <a:latin typeface="Calibri" pitchFamily="34" charset="0"/>
                <a:ea typeface="Calibri" pitchFamily="34" charset="-122"/>
                <a:cs typeface="Calibri" pitchFamily="34" charset="-120"/>
              </a:rPr>
              <a:t>Show the key components of your system, how they interact, and the data flow between them.</a:t>
            </a:r>
            <a:endParaRPr lang="en-US" sz="1200" dirty="0"/>
          </a:p>
          <a:p>
            <a:pPr marL="0" indent="0" algn="ctr">
              <a:buNone/>
            </a:pPr>
            <a:r>
              <a:rPr lang="en-US" sz="1200" i="1" dirty="0">
                <a:solidFill>
                  <a:srgbClr val="C0876E"/>
                </a:solidFill>
                <a:latin typeface="Calibri" pitchFamily="34" charset="0"/>
                <a:ea typeface="Calibri" pitchFamily="34" charset="-122"/>
                <a:cs typeface="Calibri" pitchFamily="34" charset="-120"/>
              </a:rPr>
              <a:t>Use boxes, arrows, and labels. This is the most important visual in your presentation.</a:t>
            </a:r>
            <a:endParaRPr lang="en-US" sz="1200" dirty="0"/>
          </a:p>
          <a:p>
            <a:pPr marL="0" indent="0" algn="ctr">
              <a:buNone/>
            </a:pPr>
            <a:endParaRPr lang="en-US" sz="1200" dirty="0"/>
          </a:p>
          <a:p>
            <a:pPr marL="0" indent="0" algn="ctr">
              <a:buNone/>
            </a:pPr>
            <a:r>
              <a:rPr lang="en-US" sz="1200" i="1" dirty="0">
                <a:solidFill>
                  <a:srgbClr val="C0876E"/>
                </a:solidFill>
                <a:latin typeface="Calibri" pitchFamily="34" charset="0"/>
                <a:ea typeface="Calibri" pitchFamily="34" charset="-122"/>
                <a:cs typeface="Calibri" pitchFamily="34" charset="-120"/>
              </a:rPr>
              <a:t>Tip: Draw it on paper first, then recreate it here. Keep it clean — 4–6 components max.</a:t>
            </a:r>
            <a:endParaRPr lang="en-US" sz="1200" dirty="0"/>
          </a:p>
        </p:txBody>
      </p:sp>
      <p:sp>
        <p:nvSpPr>
          <p:cNvPr id="9" name="Text 7"/>
          <p:cNvSpPr/>
          <p:nvPr/>
        </p:nvSpPr>
        <p:spPr>
          <a:xfrm>
            <a:off x="731520" y="3703320"/>
            <a:ext cx="3383280" cy="274320"/>
          </a:xfrm>
          <a:prstGeom prst="rect">
            <a:avLst/>
          </a:prstGeom>
          <a:noFill/>
          <a:ln/>
        </p:spPr>
        <p:txBody>
          <a:bodyPr wrap="square" lIns="0" tIns="0" rIns="0" bIns="0" rtlCol="0" anchor="ctr"/>
          <a:lstStyle/>
          <a:p>
            <a:pPr marL="0" indent="0">
              <a:buNone/>
            </a:pPr>
            <a:r>
              <a:rPr lang="en-US" sz="1000" b="1" dirty="0">
                <a:solidFill>
                  <a:srgbClr val="FD7E4F"/>
                </a:solidFill>
                <a:latin typeface="Calibri" pitchFamily="34" charset="0"/>
                <a:ea typeface="Calibri" pitchFamily="34" charset="-122"/>
                <a:cs typeface="Calibri" pitchFamily="34" charset="-120"/>
              </a:rPr>
              <a:t>TOOLS &amp; TECH CHOICES</a:t>
            </a:r>
            <a:endParaRPr lang="en-US" sz="1000" dirty="0"/>
          </a:p>
        </p:txBody>
      </p:sp>
      <p:sp>
        <p:nvSpPr>
          <p:cNvPr id="10" name="Text 8"/>
          <p:cNvSpPr/>
          <p:nvPr/>
        </p:nvSpPr>
        <p:spPr>
          <a:xfrm>
            <a:off x="731520" y="3977640"/>
            <a:ext cx="3383280" cy="54864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[List key tools/libraries/models and WHY you chose them — not just names]</a:t>
            </a:r>
            <a:endParaRPr lang="en-US" sz="1050" dirty="0"/>
          </a:p>
        </p:txBody>
      </p:sp>
      <p:sp>
        <p:nvSpPr>
          <p:cNvPr id="12" name="Text 10"/>
          <p:cNvSpPr/>
          <p:nvPr/>
        </p:nvSpPr>
        <p:spPr>
          <a:xfrm>
            <a:off x="4983480" y="3703320"/>
            <a:ext cx="3383280" cy="274320"/>
          </a:xfrm>
          <a:prstGeom prst="rect">
            <a:avLst/>
          </a:prstGeom>
          <a:noFill/>
          <a:ln/>
        </p:spPr>
        <p:txBody>
          <a:bodyPr wrap="square" lIns="0" tIns="0" rIns="0" bIns="0" rtlCol="0" anchor="ctr"/>
          <a:lstStyle/>
          <a:p>
            <a:pPr marL="0" indent="0">
              <a:buNone/>
            </a:pPr>
            <a:r>
              <a:rPr lang="en-US" sz="1000" b="1" dirty="0">
                <a:solidFill>
                  <a:srgbClr val="FD7E4F"/>
                </a:solidFill>
                <a:latin typeface="Calibri" pitchFamily="34" charset="0"/>
                <a:ea typeface="Calibri" pitchFamily="34" charset="-122"/>
                <a:cs typeface="Calibri" pitchFamily="34" charset="-120"/>
              </a:rPr>
              <a:t>EDGE CASES &amp; ERROR HANDLING</a:t>
            </a:r>
            <a:endParaRPr lang="en-US" sz="1000" dirty="0"/>
          </a:p>
        </p:txBody>
      </p:sp>
      <p:sp>
        <p:nvSpPr>
          <p:cNvPr id="13" name="Text 11"/>
          <p:cNvSpPr/>
          <p:nvPr/>
        </p:nvSpPr>
        <p:spPr>
          <a:xfrm>
            <a:off x="4983480" y="3977640"/>
            <a:ext cx="3383280" cy="54864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[How does your system handle failures, bad inputs, or unexpected scenarios?]</a:t>
            </a:r>
            <a:endParaRPr lang="en-US" sz="1050" dirty="0"/>
          </a:p>
        </p:txBody>
      </p:sp>
      <p:pic>
        <p:nvPicPr>
          <p:cNvPr id="8" name="Picture 7">
            <a:extLst>
              <a:ext uri="{FF2B5EF4-FFF2-40B4-BE49-F238E27FC236}">
                <a16:creationId xmlns:a16="http://schemas.microsoft.com/office/drawing/2014/main" id="{0C2CD031-97B6-41BA-9410-76D5BF400A54}"/>
              </a:ext>
            </a:extLst>
          </p:cNvPr>
          <p:cNvPicPr>
            <a:picLocks noChangeAspect="1"/>
          </p:cNvPicPr>
          <p:nvPr/>
        </p:nvPicPr>
        <p:blipFill>
          <a:blip r:embed="rId3"/>
          <a:stretch>
            <a:fillRect/>
          </a:stretch>
        </p:blipFill>
        <p:spPr>
          <a:xfrm>
            <a:off x="81281" y="142240"/>
            <a:ext cx="9062720" cy="4635500"/>
          </a:xfrm>
          <a:prstGeom prst="rect">
            <a:avLst/>
          </a:prstGeom>
        </p:spPr>
      </p:pic>
    </p:spTree>
    <p:extLst>
      <p:ext uri="{BB962C8B-B14F-4D97-AF65-F5344CB8AC3E}">
        <p14:creationId xmlns:p14="http://schemas.microsoft.com/office/powerpoint/2010/main" val="3240446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841240"/>
            <a:ext cx="9144000" cy="342900"/>
          </a:xfrm>
          <a:prstGeom prst="rect">
            <a:avLst/>
          </a:prstGeom>
          <a:solidFill>
            <a:srgbClr val="2D1A12"/>
          </a:solidFill>
          <a:ln/>
        </p:spPr>
      </p:sp>
      <p:sp>
        <p:nvSpPr>
          <p:cNvPr id="3" name="Text 1"/>
          <p:cNvSpPr/>
          <p:nvPr/>
        </p:nvSpPr>
        <p:spPr>
          <a:xfrm>
            <a:off x="457200" y="4818888"/>
            <a:ext cx="3657600" cy="301752"/>
          </a:xfrm>
          <a:prstGeom prst="rect">
            <a:avLst/>
          </a:prstGeom>
          <a:noFill/>
          <a:ln/>
        </p:spPr>
        <p:txBody>
          <a:bodyPr wrap="square" lIns="0" tIns="0" rIns="0" bIns="0" rtlCol="0" anchor="ctr"/>
          <a:lstStyle/>
          <a:p>
            <a:pPr marL="0" indent="0">
              <a:buNone/>
            </a:pPr>
            <a:r>
              <a:rPr lang="en-US" sz="800" b="1" kern="0" spc="200" dirty="0">
                <a:solidFill>
                  <a:srgbClr val="FD7E4F"/>
                </a:solidFill>
                <a:latin typeface="Calibri" pitchFamily="34" charset="0"/>
                <a:ea typeface="Calibri" pitchFamily="34" charset="-122"/>
                <a:cs typeface="Calibri" pitchFamily="34" charset="-120"/>
              </a:rPr>
              <a:t>KOBIE LAUNCHPAD 2026</a:t>
            </a:r>
            <a:endParaRPr lang="en-US" sz="800" dirty="0"/>
          </a:p>
        </p:txBody>
      </p:sp>
      <p:sp>
        <p:nvSpPr>
          <p:cNvPr id="4" name="Text 2"/>
          <p:cNvSpPr/>
          <p:nvPr/>
        </p:nvSpPr>
        <p:spPr>
          <a:xfrm>
            <a:off x="7772400" y="4818888"/>
            <a:ext cx="914400" cy="301752"/>
          </a:xfrm>
          <a:prstGeom prst="rect">
            <a:avLst/>
          </a:prstGeom>
          <a:noFill/>
          <a:ln/>
        </p:spPr>
        <p:txBody>
          <a:bodyPr wrap="square" lIns="0" tIns="0" rIns="0" bIns="0" rtlCol="0" anchor="ctr"/>
          <a:lstStyle/>
          <a:p>
            <a:pPr marL="0" indent="0" algn="r">
              <a:buNone/>
            </a:pPr>
            <a:r>
              <a:rPr lang="en-US" sz="800" dirty="0">
                <a:solidFill>
                  <a:srgbClr val="9CA3AF"/>
                </a:solidFill>
                <a:latin typeface="Calibri" pitchFamily="34" charset="0"/>
                <a:ea typeface="Calibri" pitchFamily="34" charset="-122"/>
                <a:cs typeface="Calibri" pitchFamily="34" charset="-120"/>
              </a:rPr>
              <a:t>8 / 13</a:t>
            </a:r>
            <a:endParaRPr lang="en-US" sz="800" dirty="0"/>
          </a:p>
        </p:txBody>
      </p:sp>
      <p:sp>
        <p:nvSpPr>
          <p:cNvPr id="6" name="Shape 4"/>
          <p:cNvSpPr/>
          <p:nvPr/>
        </p:nvSpPr>
        <p:spPr>
          <a:xfrm>
            <a:off x="548640" y="1026160"/>
            <a:ext cx="8046720" cy="2468880"/>
          </a:xfrm>
          <a:prstGeom prst="rect">
            <a:avLst/>
          </a:prstGeom>
          <a:solidFill>
            <a:srgbClr val="FFF0EA"/>
          </a:solidFill>
          <a:ln w="12700">
            <a:solidFill>
              <a:srgbClr val="FDDDD0"/>
            </a:solidFill>
            <a:prstDash val="solid"/>
          </a:ln>
        </p:spPr>
      </p:sp>
      <p:sp>
        <p:nvSpPr>
          <p:cNvPr id="7" name="Text 5"/>
          <p:cNvSpPr/>
          <p:nvPr/>
        </p:nvSpPr>
        <p:spPr>
          <a:xfrm>
            <a:off x="777240" y="1097280"/>
            <a:ext cx="7589520" cy="2194560"/>
          </a:xfrm>
          <a:prstGeom prst="rect">
            <a:avLst/>
          </a:prstGeom>
          <a:noFill/>
          <a:ln/>
        </p:spPr>
        <p:txBody>
          <a:bodyPr wrap="square" lIns="0" tIns="0" rIns="0" bIns="0" rtlCol="0" anchor="ctr"/>
          <a:lstStyle/>
          <a:p>
            <a:pPr marL="0" indent="0" algn="ctr">
              <a:buNone/>
            </a:pPr>
            <a:r>
              <a:rPr lang="en-US" sz="1200" i="1" dirty="0">
                <a:solidFill>
                  <a:srgbClr val="C0876E"/>
                </a:solidFill>
                <a:latin typeface="Calibri" pitchFamily="34" charset="0"/>
                <a:ea typeface="Calibri" pitchFamily="34" charset="-122"/>
                <a:cs typeface="Calibri" pitchFamily="34" charset="-120"/>
              </a:rPr>
              <a:t>Replace this entire area with your architecture diagram or component layout.</a:t>
            </a:r>
            <a:endParaRPr lang="en-US" sz="1200" dirty="0"/>
          </a:p>
          <a:p>
            <a:pPr marL="0" indent="0" algn="ctr">
              <a:buNone/>
            </a:pPr>
            <a:endParaRPr lang="en-US" sz="1200" dirty="0"/>
          </a:p>
          <a:p>
            <a:pPr marL="0" indent="0" algn="ctr">
              <a:buNone/>
            </a:pPr>
            <a:r>
              <a:rPr lang="en-US" sz="1200" i="1" dirty="0">
                <a:solidFill>
                  <a:srgbClr val="C0876E"/>
                </a:solidFill>
                <a:latin typeface="Calibri" pitchFamily="34" charset="0"/>
                <a:ea typeface="Calibri" pitchFamily="34" charset="-122"/>
                <a:cs typeface="Calibri" pitchFamily="34" charset="-120"/>
              </a:rPr>
              <a:t>Show the key components of your system, how they interact, and the data flow between them.</a:t>
            </a:r>
            <a:endParaRPr lang="en-US" sz="1200" dirty="0"/>
          </a:p>
          <a:p>
            <a:pPr marL="0" indent="0" algn="ctr">
              <a:buNone/>
            </a:pPr>
            <a:r>
              <a:rPr lang="en-US" sz="1200" i="1" dirty="0">
                <a:solidFill>
                  <a:srgbClr val="C0876E"/>
                </a:solidFill>
                <a:latin typeface="Calibri" pitchFamily="34" charset="0"/>
                <a:ea typeface="Calibri" pitchFamily="34" charset="-122"/>
                <a:cs typeface="Calibri" pitchFamily="34" charset="-120"/>
              </a:rPr>
              <a:t>Use boxes, arrows, and labels. This is the most important visual in your presentation.</a:t>
            </a:r>
            <a:endParaRPr lang="en-US" sz="1200" dirty="0"/>
          </a:p>
          <a:p>
            <a:pPr marL="0" indent="0" algn="ctr">
              <a:buNone/>
            </a:pPr>
            <a:endParaRPr lang="en-US" sz="1200" dirty="0"/>
          </a:p>
          <a:p>
            <a:pPr marL="0" indent="0" algn="ctr">
              <a:buNone/>
            </a:pPr>
            <a:r>
              <a:rPr lang="en-US" sz="1200" i="1" dirty="0">
                <a:solidFill>
                  <a:srgbClr val="C0876E"/>
                </a:solidFill>
                <a:latin typeface="Calibri" pitchFamily="34" charset="0"/>
                <a:ea typeface="Calibri" pitchFamily="34" charset="-122"/>
                <a:cs typeface="Calibri" pitchFamily="34" charset="-120"/>
              </a:rPr>
              <a:t>Tip: Draw it on paper first, then recreate it here. Keep it clean — 4–6 components max.</a:t>
            </a:r>
            <a:endParaRPr lang="en-US" sz="1200" dirty="0"/>
          </a:p>
        </p:txBody>
      </p:sp>
      <p:sp>
        <p:nvSpPr>
          <p:cNvPr id="9" name="Text 7"/>
          <p:cNvSpPr/>
          <p:nvPr/>
        </p:nvSpPr>
        <p:spPr>
          <a:xfrm>
            <a:off x="731520" y="3703320"/>
            <a:ext cx="3383280" cy="274320"/>
          </a:xfrm>
          <a:prstGeom prst="rect">
            <a:avLst/>
          </a:prstGeom>
          <a:noFill/>
          <a:ln/>
        </p:spPr>
        <p:txBody>
          <a:bodyPr wrap="square" lIns="0" tIns="0" rIns="0" bIns="0" rtlCol="0" anchor="ctr"/>
          <a:lstStyle/>
          <a:p>
            <a:pPr marL="0" indent="0">
              <a:buNone/>
            </a:pPr>
            <a:r>
              <a:rPr lang="en-US" sz="1000" b="1" dirty="0">
                <a:solidFill>
                  <a:srgbClr val="FD7E4F"/>
                </a:solidFill>
                <a:latin typeface="Calibri" pitchFamily="34" charset="0"/>
                <a:ea typeface="Calibri" pitchFamily="34" charset="-122"/>
                <a:cs typeface="Calibri" pitchFamily="34" charset="-120"/>
              </a:rPr>
              <a:t>TOOLS &amp; TECH CHOICES</a:t>
            </a:r>
            <a:endParaRPr lang="en-US" sz="1000" dirty="0"/>
          </a:p>
        </p:txBody>
      </p:sp>
      <p:sp>
        <p:nvSpPr>
          <p:cNvPr id="10" name="Text 8"/>
          <p:cNvSpPr/>
          <p:nvPr/>
        </p:nvSpPr>
        <p:spPr>
          <a:xfrm>
            <a:off x="731520" y="3977640"/>
            <a:ext cx="3383280" cy="54864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[List key tools/libraries/models and WHY you chose them — not just names]</a:t>
            </a:r>
            <a:endParaRPr lang="en-US" sz="1050" dirty="0"/>
          </a:p>
        </p:txBody>
      </p:sp>
      <p:sp>
        <p:nvSpPr>
          <p:cNvPr id="12" name="Text 10"/>
          <p:cNvSpPr/>
          <p:nvPr/>
        </p:nvSpPr>
        <p:spPr>
          <a:xfrm>
            <a:off x="4983480" y="3703320"/>
            <a:ext cx="3383280" cy="274320"/>
          </a:xfrm>
          <a:prstGeom prst="rect">
            <a:avLst/>
          </a:prstGeom>
          <a:noFill/>
          <a:ln/>
        </p:spPr>
        <p:txBody>
          <a:bodyPr wrap="square" lIns="0" tIns="0" rIns="0" bIns="0" rtlCol="0" anchor="ctr"/>
          <a:lstStyle/>
          <a:p>
            <a:pPr marL="0" indent="0">
              <a:buNone/>
            </a:pPr>
            <a:r>
              <a:rPr lang="en-US" sz="1000" b="1" dirty="0">
                <a:solidFill>
                  <a:srgbClr val="FD7E4F"/>
                </a:solidFill>
                <a:latin typeface="Calibri" pitchFamily="34" charset="0"/>
                <a:ea typeface="Calibri" pitchFamily="34" charset="-122"/>
                <a:cs typeface="Calibri" pitchFamily="34" charset="-120"/>
              </a:rPr>
              <a:t>EDGE CASES &amp; ERROR HANDLING</a:t>
            </a:r>
            <a:endParaRPr lang="en-US" sz="1000" dirty="0"/>
          </a:p>
        </p:txBody>
      </p:sp>
      <p:sp>
        <p:nvSpPr>
          <p:cNvPr id="13" name="Text 11"/>
          <p:cNvSpPr/>
          <p:nvPr/>
        </p:nvSpPr>
        <p:spPr>
          <a:xfrm>
            <a:off x="4983480" y="3977640"/>
            <a:ext cx="3383280" cy="54864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[How does your system handle failures, bad inputs, or unexpected scenarios?]</a:t>
            </a:r>
            <a:endParaRPr lang="en-US" sz="1050" dirty="0"/>
          </a:p>
        </p:txBody>
      </p:sp>
      <p:pic>
        <p:nvPicPr>
          <p:cNvPr id="5" name="Picture 4">
            <a:extLst>
              <a:ext uri="{FF2B5EF4-FFF2-40B4-BE49-F238E27FC236}">
                <a16:creationId xmlns:a16="http://schemas.microsoft.com/office/drawing/2014/main" id="{63E19207-1686-48C9-9E58-7C35F33E4B07}"/>
              </a:ext>
            </a:extLst>
          </p:cNvPr>
          <p:cNvPicPr>
            <a:picLocks noChangeAspect="1"/>
          </p:cNvPicPr>
          <p:nvPr/>
        </p:nvPicPr>
        <p:blipFill>
          <a:blip r:embed="rId3"/>
          <a:stretch>
            <a:fillRect/>
          </a:stretch>
        </p:blipFill>
        <p:spPr>
          <a:xfrm>
            <a:off x="142240" y="133858"/>
            <a:ext cx="8890000" cy="4685030"/>
          </a:xfrm>
          <a:prstGeom prst="rect">
            <a:avLst/>
          </a:prstGeom>
        </p:spPr>
      </p:pic>
    </p:spTree>
    <p:extLst>
      <p:ext uri="{BB962C8B-B14F-4D97-AF65-F5344CB8AC3E}">
        <p14:creationId xmlns:p14="http://schemas.microsoft.com/office/powerpoint/2010/main" val="1829664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7F5"/>
        </a:solidFill>
        <a:effectLst/>
      </p:bgPr>
    </p:bg>
    <p:spTree>
      <p:nvGrpSpPr>
        <p:cNvPr id="1" name=""/>
        <p:cNvGrpSpPr/>
        <p:nvPr/>
      </p:nvGrpSpPr>
      <p:grpSpPr>
        <a:xfrm>
          <a:off x="0" y="0"/>
          <a:ext cx="0" cy="0"/>
          <a:chOff x="0" y="0"/>
          <a:chExt cx="0" cy="0"/>
        </a:xfrm>
      </p:grpSpPr>
      <p:sp>
        <p:nvSpPr>
          <p:cNvPr id="2" name="Shape 0"/>
          <p:cNvSpPr/>
          <p:nvPr/>
        </p:nvSpPr>
        <p:spPr>
          <a:xfrm>
            <a:off x="0" y="4800600"/>
            <a:ext cx="9144000" cy="342900"/>
          </a:xfrm>
          <a:prstGeom prst="rect">
            <a:avLst/>
          </a:prstGeom>
          <a:solidFill>
            <a:srgbClr val="2D1A12"/>
          </a:solidFill>
          <a:ln/>
        </p:spPr>
      </p:sp>
      <p:sp>
        <p:nvSpPr>
          <p:cNvPr id="3" name="Text 1"/>
          <p:cNvSpPr/>
          <p:nvPr/>
        </p:nvSpPr>
        <p:spPr>
          <a:xfrm>
            <a:off x="457200" y="4818888"/>
            <a:ext cx="3657600" cy="301752"/>
          </a:xfrm>
          <a:prstGeom prst="rect">
            <a:avLst/>
          </a:prstGeom>
          <a:noFill/>
          <a:ln/>
        </p:spPr>
        <p:txBody>
          <a:bodyPr wrap="square" lIns="0" tIns="0" rIns="0" bIns="0" rtlCol="0" anchor="ctr"/>
          <a:lstStyle/>
          <a:p>
            <a:pPr marL="0" indent="0">
              <a:buNone/>
            </a:pPr>
            <a:r>
              <a:rPr lang="en-US" sz="800" b="1" kern="0" spc="200" dirty="0">
                <a:solidFill>
                  <a:srgbClr val="FD7E4F"/>
                </a:solidFill>
                <a:latin typeface="Calibri" pitchFamily="34" charset="0"/>
                <a:ea typeface="Calibri" pitchFamily="34" charset="-122"/>
                <a:cs typeface="Calibri" pitchFamily="34" charset="-120"/>
              </a:rPr>
              <a:t>KOBIE LAUNCHPAD 2026</a:t>
            </a:r>
            <a:endParaRPr lang="en-US" sz="800" dirty="0"/>
          </a:p>
        </p:txBody>
      </p:sp>
      <p:sp>
        <p:nvSpPr>
          <p:cNvPr id="4" name="Text 2"/>
          <p:cNvSpPr/>
          <p:nvPr/>
        </p:nvSpPr>
        <p:spPr>
          <a:xfrm>
            <a:off x="7772400" y="4818888"/>
            <a:ext cx="914400" cy="301752"/>
          </a:xfrm>
          <a:prstGeom prst="rect">
            <a:avLst/>
          </a:prstGeom>
          <a:noFill/>
          <a:ln/>
        </p:spPr>
        <p:txBody>
          <a:bodyPr wrap="square" lIns="0" tIns="0" rIns="0" bIns="0" rtlCol="0" anchor="ctr"/>
          <a:lstStyle/>
          <a:p>
            <a:pPr marL="0" indent="0" algn="r">
              <a:buNone/>
            </a:pPr>
            <a:r>
              <a:rPr lang="en-US" sz="800" dirty="0">
                <a:solidFill>
                  <a:srgbClr val="9CA3AF"/>
                </a:solidFill>
                <a:latin typeface="Calibri" pitchFamily="34" charset="0"/>
                <a:ea typeface="Calibri" pitchFamily="34" charset="-122"/>
                <a:cs typeface="Calibri" pitchFamily="34" charset="-120"/>
              </a:rPr>
              <a:t>9/1 3</a:t>
            </a:r>
            <a:endParaRPr lang="en-US" sz="800" dirty="0"/>
          </a:p>
        </p:txBody>
      </p:sp>
      <p:sp>
        <p:nvSpPr>
          <p:cNvPr id="5" name="Text 3"/>
          <p:cNvSpPr/>
          <p:nvPr/>
        </p:nvSpPr>
        <p:spPr>
          <a:xfrm>
            <a:off x="914400" y="-34036"/>
            <a:ext cx="7315200" cy="548640"/>
          </a:xfrm>
          <a:prstGeom prst="rect">
            <a:avLst/>
          </a:prstGeom>
          <a:noFill/>
          <a:ln/>
        </p:spPr>
        <p:txBody>
          <a:bodyPr wrap="square" lIns="0" tIns="0" rIns="0" bIns="0" rtlCol="0" anchor="ctr"/>
          <a:lstStyle/>
          <a:p>
            <a:r>
              <a:rPr lang="en-IN" sz="2400" b="1" dirty="0">
                <a:solidFill>
                  <a:srgbClr val="002060"/>
                </a:solidFill>
                <a:latin typeface="Times New Roman" panose="02020603050405020304" pitchFamily="18" charset="0"/>
                <a:cs typeface="Times New Roman" panose="02020603050405020304" pitchFamily="18" charset="0"/>
              </a:rPr>
              <a:t>AI Powered Kubernetes Troubleshooting (K8sGPT)</a:t>
            </a:r>
          </a:p>
        </p:txBody>
      </p:sp>
      <p:sp>
        <p:nvSpPr>
          <p:cNvPr id="7" name="Text 4"/>
          <p:cNvSpPr/>
          <p:nvPr/>
        </p:nvSpPr>
        <p:spPr>
          <a:xfrm>
            <a:off x="3337562" y="1178052"/>
            <a:ext cx="3200400" cy="384048"/>
          </a:xfrm>
          <a:prstGeom prst="rect">
            <a:avLst/>
          </a:prstGeom>
          <a:noFill/>
          <a:ln/>
        </p:spPr>
        <p:txBody>
          <a:bodyPr wrap="square" lIns="0" tIns="0" rIns="0" bIns="0" rtlCol="0" anchor="ctr"/>
          <a:lstStyle/>
          <a:p>
            <a:pPr marL="0" indent="0">
              <a:buNone/>
            </a:pPr>
            <a:endParaRPr lang="en-US" sz="1300" dirty="0"/>
          </a:p>
        </p:txBody>
      </p:sp>
      <p:sp>
        <p:nvSpPr>
          <p:cNvPr id="9" name="Text 6"/>
          <p:cNvSpPr/>
          <p:nvPr/>
        </p:nvSpPr>
        <p:spPr>
          <a:xfrm>
            <a:off x="612648" y="1084580"/>
            <a:ext cx="3593592" cy="2527300"/>
          </a:xfrm>
          <a:prstGeom prst="rect">
            <a:avLst/>
          </a:prstGeom>
          <a:noFill/>
          <a:ln/>
        </p:spPr>
        <p:txBody>
          <a:bodyPr wrap="square" lIns="0" tIns="0" rIns="0" bIns="0" rtlCol="0" anchor="t"/>
          <a:lstStyle/>
          <a:p>
            <a:pPr marL="0" indent="0">
              <a:buNone/>
            </a:pPr>
            <a:endParaRPr lang="en-US" sz="1200" dirty="0"/>
          </a:p>
        </p:txBody>
      </p:sp>
      <p:sp>
        <p:nvSpPr>
          <p:cNvPr id="11" name="Text 7"/>
          <p:cNvSpPr/>
          <p:nvPr/>
        </p:nvSpPr>
        <p:spPr>
          <a:xfrm>
            <a:off x="10055098" y="-503555"/>
            <a:ext cx="1105205" cy="119823"/>
          </a:xfrm>
          <a:prstGeom prst="rect">
            <a:avLst/>
          </a:prstGeom>
          <a:noFill/>
          <a:ln/>
        </p:spPr>
        <p:txBody>
          <a:bodyPr wrap="square" lIns="0" tIns="0" rIns="0" bIns="0" rtlCol="0" anchor="ctr"/>
          <a:lstStyle/>
          <a:p>
            <a:pPr marL="0" indent="0">
              <a:buNone/>
            </a:pPr>
            <a:endParaRPr lang="en-US" sz="1300" dirty="0"/>
          </a:p>
        </p:txBody>
      </p:sp>
      <p:sp>
        <p:nvSpPr>
          <p:cNvPr id="13" name="Text 9"/>
          <p:cNvSpPr/>
          <p:nvPr/>
        </p:nvSpPr>
        <p:spPr>
          <a:xfrm>
            <a:off x="4983480" y="1600200"/>
            <a:ext cx="3474720" cy="2011680"/>
          </a:xfrm>
          <a:prstGeom prst="rect">
            <a:avLst/>
          </a:prstGeom>
          <a:noFill/>
          <a:ln/>
        </p:spPr>
        <p:txBody>
          <a:bodyPr wrap="square" lIns="0" tIns="0" rIns="0" bIns="0" rtlCol="0" anchor="t"/>
          <a:lstStyle/>
          <a:p>
            <a:pPr marL="0" indent="0">
              <a:buNone/>
            </a:pPr>
            <a:endParaRPr lang="en-US" sz="1200" dirty="0"/>
          </a:p>
        </p:txBody>
      </p:sp>
      <p:sp>
        <p:nvSpPr>
          <p:cNvPr id="16" name="Text 12"/>
          <p:cNvSpPr/>
          <p:nvPr/>
        </p:nvSpPr>
        <p:spPr>
          <a:xfrm>
            <a:off x="777240" y="3931920"/>
            <a:ext cx="7589520" cy="594360"/>
          </a:xfrm>
          <a:prstGeom prst="rect">
            <a:avLst/>
          </a:prstGeom>
          <a:noFill/>
          <a:ln/>
        </p:spPr>
        <p:txBody>
          <a:bodyPr wrap="square" lIns="0" tIns="0" rIns="0" bIns="0" rtlCol="0" anchor="t"/>
          <a:lstStyle/>
          <a:p>
            <a:pPr marL="0" indent="0">
              <a:buNone/>
            </a:pPr>
            <a:endParaRPr lang="en-US" sz="1200" dirty="0"/>
          </a:p>
        </p:txBody>
      </p:sp>
      <p:sp>
        <p:nvSpPr>
          <p:cNvPr id="17" name="Text 6">
            <a:extLst>
              <a:ext uri="{FF2B5EF4-FFF2-40B4-BE49-F238E27FC236}">
                <a16:creationId xmlns:a16="http://schemas.microsoft.com/office/drawing/2014/main" id="{BB589AE6-AAAC-4E5E-99AD-E8C073AB817C}"/>
              </a:ext>
            </a:extLst>
          </p:cNvPr>
          <p:cNvSpPr/>
          <p:nvPr/>
        </p:nvSpPr>
        <p:spPr>
          <a:xfrm>
            <a:off x="71120" y="463296"/>
            <a:ext cx="9001760" cy="4342892"/>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When a deployment, pod, service, ingress, or workload enters a failed state, K8sGPT automatically collects live Kubernetes context including pod logs, events, deployment status, service configurations, and cluster resource conditions, no training dataset or custom model development is required.</a:t>
            </a:r>
          </a:p>
          <a:p>
            <a:endParaRPr lang="en-US" sz="15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K8sGPT analyzes this real-time operational data using an LLM-backed reasoning engine to correlate failures across multiple Kubernetes components instead of examining logs or events in isolation.</a:t>
            </a:r>
          </a:p>
          <a:p>
            <a:endParaRPr lang="en-US" sz="15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The system identifies probable root causes for issues such as CrashLoopBackOff, ImagePullBackOff, Pending Pods, failed ingress routing, missing secrets, resource exhaustion, and connectivity failures.</a:t>
            </a:r>
          </a:p>
          <a:p>
            <a:pPr marL="285750" indent="-285750">
              <a:buFont typeface="Arial" panose="020B0604020202020204" pitchFamily="34" charset="0"/>
              <a:buChar char="•"/>
            </a:pPr>
            <a:endParaRPr lang="en-US" sz="15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It generates human-readable diagnostics, supporting evidence, and recommended remediation steps, significantly reducing the time engineers spend manually debugging distributed cloud-native environments.</a:t>
            </a:r>
          </a:p>
          <a:p>
            <a:endParaRPr lang="en-US" sz="15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By integrating K8sGPT into the GitOps and deployment workflow, troubleshooting becomes proactive, automated, and context-aware, improving platform reliability and reducing Mean Time To Resolution (MTTR).</a:t>
            </a:r>
          </a:p>
          <a:p>
            <a:endParaRPr lang="en-US" sz="1500" dirty="0">
              <a:latin typeface="Times New Roman" panose="02020603050405020304" pitchFamily="18" charset="0"/>
              <a:cs typeface="Times New Roman" panose="02020603050405020304" pitchFamily="18" charset="0"/>
            </a:endParaRPr>
          </a:p>
          <a:p>
            <a:pPr marL="228600" indent="-228600">
              <a:buFont typeface="+mj-lt"/>
              <a:buAutoNum type="arabicPeriod"/>
            </a:pPr>
            <a:r>
              <a:rPr lang="en-US" sz="1500" dirty="0">
                <a:latin typeface="Times New Roman" panose="02020603050405020304" pitchFamily="18" charset="0"/>
                <a:cs typeface="Times New Roman" panose="02020603050405020304" pitchFamily="18" charset="0"/>
              </a:rPr>
              <a:t>What data is used? → Logs, events, deployments, services, cluster state.</a:t>
            </a:r>
          </a:p>
          <a:p>
            <a:pPr marL="228600" indent="-228600">
              <a:buFont typeface="+mj-lt"/>
              <a:buAutoNum type="arabicPeriod"/>
            </a:pPr>
            <a:r>
              <a:rPr lang="en-US" sz="1500" dirty="0">
                <a:latin typeface="Times New Roman" panose="02020603050405020304" pitchFamily="18" charset="0"/>
                <a:cs typeface="Times New Roman" panose="02020603050405020304" pitchFamily="18" charset="0"/>
              </a:rPr>
              <a:t>What exactly happens? → Automated root-cause analysis.</a:t>
            </a:r>
          </a:p>
          <a:p>
            <a:pPr marL="228600" indent="-228600">
              <a:buFont typeface="+mj-lt"/>
              <a:buAutoNum type="arabicPeriod"/>
            </a:pPr>
            <a:r>
              <a:rPr lang="en-US" sz="1500" dirty="0">
                <a:latin typeface="Times New Roman" panose="02020603050405020304" pitchFamily="18" charset="0"/>
                <a:cs typeface="Times New Roman" panose="02020603050405020304" pitchFamily="18" charset="0"/>
              </a:rPr>
              <a:t>Business impact? → Faster troubleshooting, lower MTTR, improved reliability.</a:t>
            </a:r>
          </a:p>
        </p:txBody>
      </p:sp>
      <p:pic>
        <p:nvPicPr>
          <p:cNvPr id="3074" name="Picture 2" descr="Kobie | LinkedIn">
            <a:extLst>
              <a:ext uri="{FF2B5EF4-FFF2-40B4-BE49-F238E27FC236}">
                <a16:creationId xmlns:a16="http://schemas.microsoft.com/office/drawing/2014/main" id="{45A37174-0AAB-4EE7-9F61-92CCD7E0DF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9772" y="-34036"/>
            <a:ext cx="554228" cy="554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2164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841240"/>
            <a:ext cx="9144000" cy="342900"/>
          </a:xfrm>
          <a:prstGeom prst="rect">
            <a:avLst/>
          </a:prstGeom>
          <a:solidFill>
            <a:srgbClr val="2D1A12"/>
          </a:solidFill>
          <a:ln/>
        </p:spPr>
      </p:sp>
      <p:sp>
        <p:nvSpPr>
          <p:cNvPr id="3" name="Text 1"/>
          <p:cNvSpPr/>
          <p:nvPr/>
        </p:nvSpPr>
        <p:spPr>
          <a:xfrm>
            <a:off x="457200" y="4818888"/>
            <a:ext cx="3657600" cy="301752"/>
          </a:xfrm>
          <a:prstGeom prst="rect">
            <a:avLst/>
          </a:prstGeom>
          <a:noFill/>
          <a:ln/>
        </p:spPr>
        <p:txBody>
          <a:bodyPr wrap="square" lIns="0" tIns="0" rIns="0" bIns="0" rtlCol="0" anchor="ctr"/>
          <a:lstStyle/>
          <a:p>
            <a:pPr marL="0" indent="0">
              <a:buNone/>
            </a:pPr>
            <a:r>
              <a:rPr lang="en-US" sz="800" b="1" kern="0" spc="200" dirty="0">
                <a:solidFill>
                  <a:srgbClr val="FD7E4F"/>
                </a:solidFill>
                <a:latin typeface="Calibri" pitchFamily="34" charset="0"/>
                <a:ea typeface="Calibri" pitchFamily="34" charset="-122"/>
                <a:cs typeface="Calibri" pitchFamily="34" charset="-120"/>
              </a:rPr>
              <a:t>KOBIE LAUNCHPAD 2026</a:t>
            </a:r>
            <a:endParaRPr lang="en-US" sz="800" dirty="0"/>
          </a:p>
        </p:txBody>
      </p:sp>
      <p:sp>
        <p:nvSpPr>
          <p:cNvPr id="4" name="Text 2"/>
          <p:cNvSpPr/>
          <p:nvPr/>
        </p:nvSpPr>
        <p:spPr>
          <a:xfrm>
            <a:off x="7772400" y="4818888"/>
            <a:ext cx="914400" cy="301752"/>
          </a:xfrm>
          <a:prstGeom prst="rect">
            <a:avLst/>
          </a:prstGeom>
          <a:noFill/>
          <a:ln/>
        </p:spPr>
        <p:txBody>
          <a:bodyPr wrap="square" lIns="0" tIns="0" rIns="0" bIns="0" rtlCol="0" anchor="ctr"/>
          <a:lstStyle/>
          <a:p>
            <a:pPr marL="0" indent="0" algn="r">
              <a:buNone/>
            </a:pPr>
            <a:r>
              <a:rPr lang="en-US" sz="800" dirty="0">
                <a:solidFill>
                  <a:srgbClr val="9CA3AF"/>
                </a:solidFill>
                <a:latin typeface="Calibri" pitchFamily="34" charset="0"/>
                <a:ea typeface="Calibri" pitchFamily="34" charset="-122"/>
                <a:cs typeface="Calibri" pitchFamily="34" charset="-120"/>
              </a:rPr>
              <a:t>7 / 3</a:t>
            </a:r>
            <a:endParaRPr lang="en-US" sz="800" dirty="0"/>
          </a:p>
        </p:txBody>
      </p:sp>
      <p:sp>
        <p:nvSpPr>
          <p:cNvPr id="6" name="Shape 4"/>
          <p:cNvSpPr/>
          <p:nvPr/>
        </p:nvSpPr>
        <p:spPr>
          <a:xfrm>
            <a:off x="548640" y="1026160"/>
            <a:ext cx="8046720" cy="2468880"/>
          </a:xfrm>
          <a:prstGeom prst="rect">
            <a:avLst/>
          </a:prstGeom>
          <a:solidFill>
            <a:srgbClr val="FFF0EA"/>
          </a:solidFill>
          <a:ln w="12700">
            <a:solidFill>
              <a:srgbClr val="FDDDD0"/>
            </a:solidFill>
            <a:prstDash val="solid"/>
          </a:ln>
        </p:spPr>
      </p:sp>
      <p:sp>
        <p:nvSpPr>
          <p:cNvPr id="7" name="Text 5"/>
          <p:cNvSpPr/>
          <p:nvPr/>
        </p:nvSpPr>
        <p:spPr>
          <a:xfrm>
            <a:off x="777240" y="1097280"/>
            <a:ext cx="7589520" cy="2194560"/>
          </a:xfrm>
          <a:prstGeom prst="rect">
            <a:avLst/>
          </a:prstGeom>
          <a:noFill/>
          <a:ln/>
        </p:spPr>
        <p:txBody>
          <a:bodyPr wrap="square" lIns="0" tIns="0" rIns="0" bIns="0" rtlCol="0" anchor="ctr"/>
          <a:lstStyle/>
          <a:p>
            <a:pPr marL="0" indent="0" algn="ctr">
              <a:buNone/>
            </a:pPr>
            <a:r>
              <a:rPr lang="en-US" sz="1200" i="1" dirty="0">
                <a:solidFill>
                  <a:srgbClr val="C0876E"/>
                </a:solidFill>
                <a:latin typeface="Calibri" pitchFamily="34" charset="0"/>
                <a:ea typeface="Calibri" pitchFamily="34" charset="-122"/>
                <a:cs typeface="Calibri" pitchFamily="34" charset="-120"/>
              </a:rPr>
              <a:t>Replace this entire area with your architecture diagram or component layout.</a:t>
            </a:r>
            <a:endParaRPr lang="en-US" sz="1200" dirty="0"/>
          </a:p>
          <a:p>
            <a:pPr marL="0" indent="0" algn="ctr">
              <a:buNone/>
            </a:pPr>
            <a:endParaRPr lang="en-US" sz="1200" dirty="0"/>
          </a:p>
          <a:p>
            <a:pPr marL="0" indent="0" algn="ctr">
              <a:buNone/>
            </a:pPr>
            <a:r>
              <a:rPr lang="en-US" sz="1200" i="1" dirty="0">
                <a:solidFill>
                  <a:srgbClr val="C0876E"/>
                </a:solidFill>
                <a:latin typeface="Calibri" pitchFamily="34" charset="0"/>
                <a:ea typeface="Calibri" pitchFamily="34" charset="-122"/>
                <a:cs typeface="Calibri" pitchFamily="34" charset="-120"/>
              </a:rPr>
              <a:t>Show the key components of your system, how they interact, and the data flow between them.</a:t>
            </a:r>
            <a:endParaRPr lang="en-US" sz="1200" dirty="0"/>
          </a:p>
          <a:p>
            <a:pPr marL="0" indent="0" algn="ctr">
              <a:buNone/>
            </a:pPr>
            <a:r>
              <a:rPr lang="en-US" sz="1200" i="1" dirty="0">
                <a:solidFill>
                  <a:srgbClr val="C0876E"/>
                </a:solidFill>
                <a:latin typeface="Calibri" pitchFamily="34" charset="0"/>
                <a:ea typeface="Calibri" pitchFamily="34" charset="-122"/>
                <a:cs typeface="Calibri" pitchFamily="34" charset="-120"/>
              </a:rPr>
              <a:t>Use boxes, arrows, and labels. This is the most important visual in your presentation.</a:t>
            </a:r>
            <a:endParaRPr lang="en-US" sz="1200" dirty="0"/>
          </a:p>
          <a:p>
            <a:pPr marL="0" indent="0" algn="ctr">
              <a:buNone/>
            </a:pPr>
            <a:endParaRPr lang="en-US" sz="1200" dirty="0"/>
          </a:p>
          <a:p>
            <a:pPr marL="0" indent="0" algn="ctr">
              <a:buNone/>
            </a:pPr>
            <a:r>
              <a:rPr lang="en-US" sz="1200" i="1" dirty="0">
                <a:solidFill>
                  <a:srgbClr val="C0876E"/>
                </a:solidFill>
                <a:latin typeface="Calibri" pitchFamily="34" charset="0"/>
                <a:ea typeface="Calibri" pitchFamily="34" charset="-122"/>
                <a:cs typeface="Calibri" pitchFamily="34" charset="-120"/>
              </a:rPr>
              <a:t>Tip: Draw it on paper first, then recreate it here. Keep it clean — 4–6 components max.</a:t>
            </a:r>
            <a:endParaRPr lang="en-US" sz="1200" dirty="0"/>
          </a:p>
        </p:txBody>
      </p:sp>
      <p:sp>
        <p:nvSpPr>
          <p:cNvPr id="9" name="Text 7"/>
          <p:cNvSpPr/>
          <p:nvPr/>
        </p:nvSpPr>
        <p:spPr>
          <a:xfrm>
            <a:off x="731520" y="3703320"/>
            <a:ext cx="3383280" cy="274320"/>
          </a:xfrm>
          <a:prstGeom prst="rect">
            <a:avLst/>
          </a:prstGeom>
          <a:noFill/>
          <a:ln/>
        </p:spPr>
        <p:txBody>
          <a:bodyPr wrap="square" lIns="0" tIns="0" rIns="0" bIns="0" rtlCol="0" anchor="ctr"/>
          <a:lstStyle/>
          <a:p>
            <a:pPr marL="0" indent="0">
              <a:buNone/>
            </a:pPr>
            <a:r>
              <a:rPr lang="en-US" sz="1000" b="1" dirty="0">
                <a:solidFill>
                  <a:srgbClr val="FD7E4F"/>
                </a:solidFill>
                <a:latin typeface="Calibri" pitchFamily="34" charset="0"/>
                <a:ea typeface="Calibri" pitchFamily="34" charset="-122"/>
                <a:cs typeface="Calibri" pitchFamily="34" charset="-120"/>
              </a:rPr>
              <a:t>TOOLS &amp; TECH CHOICES</a:t>
            </a:r>
            <a:endParaRPr lang="en-US" sz="1000" dirty="0"/>
          </a:p>
        </p:txBody>
      </p:sp>
      <p:sp>
        <p:nvSpPr>
          <p:cNvPr id="10" name="Text 8"/>
          <p:cNvSpPr/>
          <p:nvPr/>
        </p:nvSpPr>
        <p:spPr>
          <a:xfrm>
            <a:off x="731520" y="3977640"/>
            <a:ext cx="3383280" cy="54864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[List key tools/libraries/models and WHY you chose them — not just names]</a:t>
            </a:r>
            <a:endParaRPr lang="en-US" sz="1050" dirty="0"/>
          </a:p>
        </p:txBody>
      </p:sp>
      <p:sp>
        <p:nvSpPr>
          <p:cNvPr id="12" name="Text 10"/>
          <p:cNvSpPr/>
          <p:nvPr/>
        </p:nvSpPr>
        <p:spPr>
          <a:xfrm>
            <a:off x="4983480" y="3703320"/>
            <a:ext cx="3383280" cy="274320"/>
          </a:xfrm>
          <a:prstGeom prst="rect">
            <a:avLst/>
          </a:prstGeom>
          <a:noFill/>
          <a:ln/>
        </p:spPr>
        <p:txBody>
          <a:bodyPr wrap="square" lIns="0" tIns="0" rIns="0" bIns="0" rtlCol="0" anchor="ctr"/>
          <a:lstStyle/>
          <a:p>
            <a:pPr marL="0" indent="0">
              <a:buNone/>
            </a:pPr>
            <a:r>
              <a:rPr lang="en-US" sz="1000" b="1" dirty="0">
                <a:solidFill>
                  <a:srgbClr val="FD7E4F"/>
                </a:solidFill>
                <a:latin typeface="Calibri" pitchFamily="34" charset="0"/>
                <a:ea typeface="Calibri" pitchFamily="34" charset="-122"/>
                <a:cs typeface="Calibri" pitchFamily="34" charset="-120"/>
              </a:rPr>
              <a:t>EDGE CASES &amp; ERROR HANDLING</a:t>
            </a:r>
            <a:endParaRPr lang="en-US" sz="1000" dirty="0"/>
          </a:p>
        </p:txBody>
      </p:sp>
      <p:sp>
        <p:nvSpPr>
          <p:cNvPr id="13" name="Text 11"/>
          <p:cNvSpPr/>
          <p:nvPr/>
        </p:nvSpPr>
        <p:spPr>
          <a:xfrm>
            <a:off x="4983480" y="3977640"/>
            <a:ext cx="3383280" cy="54864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[How does your system handle failures, bad inputs, or unexpected scenarios?]</a:t>
            </a:r>
            <a:endParaRPr lang="en-US" sz="1050" dirty="0"/>
          </a:p>
        </p:txBody>
      </p:sp>
      <p:pic>
        <p:nvPicPr>
          <p:cNvPr id="5" name="Picture 4">
            <a:extLst>
              <a:ext uri="{FF2B5EF4-FFF2-40B4-BE49-F238E27FC236}">
                <a16:creationId xmlns:a16="http://schemas.microsoft.com/office/drawing/2014/main" id="{71D6E821-D03A-4B6D-9CB0-CB081C62E4FB}"/>
              </a:ext>
            </a:extLst>
          </p:cNvPr>
          <p:cNvPicPr>
            <a:picLocks noChangeAspect="1"/>
          </p:cNvPicPr>
          <p:nvPr/>
        </p:nvPicPr>
        <p:blipFill>
          <a:blip r:embed="rId3"/>
          <a:stretch>
            <a:fillRect/>
          </a:stretch>
        </p:blipFill>
        <p:spPr>
          <a:xfrm>
            <a:off x="0" y="61562"/>
            <a:ext cx="9144000" cy="5081938"/>
          </a:xfrm>
          <a:prstGeom prst="rect">
            <a:avLst/>
          </a:prstGeom>
        </p:spPr>
      </p:pic>
    </p:spTree>
    <p:extLst>
      <p:ext uri="{BB962C8B-B14F-4D97-AF65-F5344CB8AC3E}">
        <p14:creationId xmlns:p14="http://schemas.microsoft.com/office/powerpoint/2010/main" val="3531141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841240"/>
            <a:ext cx="9144000" cy="342900"/>
          </a:xfrm>
          <a:prstGeom prst="rect">
            <a:avLst/>
          </a:prstGeom>
          <a:solidFill>
            <a:srgbClr val="2D1A12"/>
          </a:solidFill>
          <a:ln/>
        </p:spPr>
      </p:sp>
      <p:sp>
        <p:nvSpPr>
          <p:cNvPr id="3" name="Text 1"/>
          <p:cNvSpPr/>
          <p:nvPr/>
        </p:nvSpPr>
        <p:spPr>
          <a:xfrm>
            <a:off x="457200" y="4818888"/>
            <a:ext cx="3657600" cy="301752"/>
          </a:xfrm>
          <a:prstGeom prst="rect">
            <a:avLst/>
          </a:prstGeom>
          <a:noFill/>
          <a:ln/>
        </p:spPr>
        <p:txBody>
          <a:bodyPr wrap="square" lIns="0" tIns="0" rIns="0" bIns="0" rtlCol="0" anchor="ctr"/>
          <a:lstStyle/>
          <a:p>
            <a:pPr marL="0" indent="0">
              <a:buNone/>
            </a:pPr>
            <a:r>
              <a:rPr lang="en-US" sz="800" b="1" kern="0" spc="200" dirty="0">
                <a:solidFill>
                  <a:srgbClr val="FD7E4F"/>
                </a:solidFill>
                <a:latin typeface="Calibri" pitchFamily="34" charset="0"/>
                <a:ea typeface="Calibri" pitchFamily="34" charset="-122"/>
                <a:cs typeface="Calibri" pitchFamily="34" charset="-120"/>
              </a:rPr>
              <a:t>KOBIE LAUNCHPAD 2026</a:t>
            </a:r>
            <a:endParaRPr lang="en-US" sz="800" dirty="0"/>
          </a:p>
        </p:txBody>
      </p:sp>
      <p:sp>
        <p:nvSpPr>
          <p:cNvPr id="4" name="Text 2"/>
          <p:cNvSpPr/>
          <p:nvPr/>
        </p:nvSpPr>
        <p:spPr>
          <a:xfrm>
            <a:off x="7772400" y="4818888"/>
            <a:ext cx="914400" cy="301752"/>
          </a:xfrm>
          <a:prstGeom prst="rect">
            <a:avLst/>
          </a:prstGeom>
          <a:noFill/>
          <a:ln/>
        </p:spPr>
        <p:txBody>
          <a:bodyPr wrap="square" lIns="0" tIns="0" rIns="0" bIns="0" rtlCol="0" anchor="ctr"/>
          <a:lstStyle/>
          <a:p>
            <a:pPr marL="0" indent="0" algn="r">
              <a:buNone/>
            </a:pPr>
            <a:r>
              <a:rPr lang="en-US" sz="800" dirty="0">
                <a:solidFill>
                  <a:srgbClr val="9CA3AF"/>
                </a:solidFill>
                <a:latin typeface="Calibri" pitchFamily="34" charset="0"/>
                <a:ea typeface="Calibri" pitchFamily="34" charset="-122"/>
                <a:cs typeface="Calibri" pitchFamily="34" charset="-120"/>
              </a:rPr>
              <a:t>7 / 3</a:t>
            </a:r>
            <a:endParaRPr lang="en-US" sz="800" dirty="0"/>
          </a:p>
        </p:txBody>
      </p:sp>
      <p:sp>
        <p:nvSpPr>
          <p:cNvPr id="6" name="Shape 4"/>
          <p:cNvSpPr/>
          <p:nvPr/>
        </p:nvSpPr>
        <p:spPr>
          <a:xfrm>
            <a:off x="548640" y="1026160"/>
            <a:ext cx="8046720" cy="2468880"/>
          </a:xfrm>
          <a:prstGeom prst="rect">
            <a:avLst/>
          </a:prstGeom>
          <a:solidFill>
            <a:srgbClr val="FFF0EA"/>
          </a:solidFill>
          <a:ln w="12700">
            <a:solidFill>
              <a:srgbClr val="FDDDD0"/>
            </a:solidFill>
            <a:prstDash val="solid"/>
          </a:ln>
        </p:spPr>
      </p:sp>
      <p:sp>
        <p:nvSpPr>
          <p:cNvPr id="7" name="Text 5"/>
          <p:cNvSpPr/>
          <p:nvPr/>
        </p:nvSpPr>
        <p:spPr>
          <a:xfrm>
            <a:off x="777240" y="1097280"/>
            <a:ext cx="7589520" cy="2194560"/>
          </a:xfrm>
          <a:prstGeom prst="rect">
            <a:avLst/>
          </a:prstGeom>
          <a:noFill/>
          <a:ln/>
        </p:spPr>
        <p:txBody>
          <a:bodyPr wrap="square" lIns="0" tIns="0" rIns="0" bIns="0" rtlCol="0" anchor="ctr"/>
          <a:lstStyle/>
          <a:p>
            <a:pPr marL="0" indent="0" algn="ctr">
              <a:buNone/>
            </a:pPr>
            <a:r>
              <a:rPr lang="en-US" sz="1200" i="1" dirty="0">
                <a:solidFill>
                  <a:srgbClr val="C0876E"/>
                </a:solidFill>
                <a:latin typeface="Calibri" pitchFamily="34" charset="0"/>
                <a:ea typeface="Calibri" pitchFamily="34" charset="-122"/>
                <a:cs typeface="Calibri" pitchFamily="34" charset="-120"/>
              </a:rPr>
              <a:t>Replace this entire area with your architecture diagram or component layout.</a:t>
            </a:r>
            <a:endParaRPr lang="en-US" sz="1200" dirty="0"/>
          </a:p>
          <a:p>
            <a:pPr marL="0" indent="0" algn="ctr">
              <a:buNone/>
            </a:pPr>
            <a:endParaRPr lang="en-US" sz="1200" dirty="0"/>
          </a:p>
          <a:p>
            <a:pPr marL="0" indent="0" algn="ctr">
              <a:buNone/>
            </a:pPr>
            <a:r>
              <a:rPr lang="en-US" sz="1200" i="1" dirty="0">
                <a:solidFill>
                  <a:srgbClr val="C0876E"/>
                </a:solidFill>
                <a:latin typeface="Calibri" pitchFamily="34" charset="0"/>
                <a:ea typeface="Calibri" pitchFamily="34" charset="-122"/>
                <a:cs typeface="Calibri" pitchFamily="34" charset="-120"/>
              </a:rPr>
              <a:t>Show the key components of your system, how they interact, and the data flow between them.</a:t>
            </a:r>
            <a:endParaRPr lang="en-US" sz="1200" dirty="0"/>
          </a:p>
          <a:p>
            <a:pPr marL="0" indent="0" algn="ctr">
              <a:buNone/>
            </a:pPr>
            <a:r>
              <a:rPr lang="en-US" sz="1200" i="1" dirty="0">
                <a:solidFill>
                  <a:srgbClr val="C0876E"/>
                </a:solidFill>
                <a:latin typeface="Calibri" pitchFamily="34" charset="0"/>
                <a:ea typeface="Calibri" pitchFamily="34" charset="-122"/>
                <a:cs typeface="Calibri" pitchFamily="34" charset="-120"/>
              </a:rPr>
              <a:t>Use boxes, arrows, and labels. This is the most important visual in your presentation.</a:t>
            </a:r>
            <a:endParaRPr lang="en-US" sz="1200" dirty="0"/>
          </a:p>
          <a:p>
            <a:pPr marL="0" indent="0" algn="ctr">
              <a:buNone/>
            </a:pPr>
            <a:endParaRPr lang="en-US" sz="1200" dirty="0"/>
          </a:p>
          <a:p>
            <a:pPr marL="0" indent="0" algn="ctr">
              <a:buNone/>
            </a:pPr>
            <a:r>
              <a:rPr lang="en-US" sz="1200" i="1" dirty="0">
                <a:solidFill>
                  <a:srgbClr val="C0876E"/>
                </a:solidFill>
                <a:latin typeface="Calibri" pitchFamily="34" charset="0"/>
                <a:ea typeface="Calibri" pitchFamily="34" charset="-122"/>
                <a:cs typeface="Calibri" pitchFamily="34" charset="-120"/>
              </a:rPr>
              <a:t>Tip: Draw it on paper first, then recreate it here. Keep it clean — 4–6 components max.</a:t>
            </a:r>
            <a:endParaRPr lang="en-US" sz="1200" dirty="0"/>
          </a:p>
        </p:txBody>
      </p:sp>
      <p:sp>
        <p:nvSpPr>
          <p:cNvPr id="9" name="Text 7"/>
          <p:cNvSpPr/>
          <p:nvPr/>
        </p:nvSpPr>
        <p:spPr>
          <a:xfrm>
            <a:off x="731520" y="3703320"/>
            <a:ext cx="3383280" cy="274320"/>
          </a:xfrm>
          <a:prstGeom prst="rect">
            <a:avLst/>
          </a:prstGeom>
          <a:noFill/>
          <a:ln/>
        </p:spPr>
        <p:txBody>
          <a:bodyPr wrap="square" lIns="0" tIns="0" rIns="0" bIns="0" rtlCol="0" anchor="ctr"/>
          <a:lstStyle/>
          <a:p>
            <a:pPr marL="0" indent="0">
              <a:buNone/>
            </a:pPr>
            <a:r>
              <a:rPr lang="en-US" sz="1000" b="1" dirty="0">
                <a:solidFill>
                  <a:srgbClr val="FD7E4F"/>
                </a:solidFill>
                <a:latin typeface="Calibri" pitchFamily="34" charset="0"/>
                <a:ea typeface="Calibri" pitchFamily="34" charset="-122"/>
                <a:cs typeface="Calibri" pitchFamily="34" charset="-120"/>
              </a:rPr>
              <a:t>TOOLS &amp; TECH CHOICES</a:t>
            </a:r>
            <a:endParaRPr lang="en-US" sz="1000" dirty="0"/>
          </a:p>
        </p:txBody>
      </p:sp>
      <p:sp>
        <p:nvSpPr>
          <p:cNvPr id="10" name="Text 8"/>
          <p:cNvSpPr/>
          <p:nvPr/>
        </p:nvSpPr>
        <p:spPr>
          <a:xfrm>
            <a:off x="731520" y="3977640"/>
            <a:ext cx="3383280" cy="54864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[List key tools/libraries/models and WHY you chose them — not just names]</a:t>
            </a:r>
            <a:endParaRPr lang="en-US" sz="1050" dirty="0"/>
          </a:p>
        </p:txBody>
      </p:sp>
      <p:sp>
        <p:nvSpPr>
          <p:cNvPr id="12" name="Text 10"/>
          <p:cNvSpPr/>
          <p:nvPr/>
        </p:nvSpPr>
        <p:spPr>
          <a:xfrm>
            <a:off x="4983480" y="3703320"/>
            <a:ext cx="3383280" cy="274320"/>
          </a:xfrm>
          <a:prstGeom prst="rect">
            <a:avLst/>
          </a:prstGeom>
          <a:noFill/>
          <a:ln/>
        </p:spPr>
        <p:txBody>
          <a:bodyPr wrap="square" lIns="0" tIns="0" rIns="0" bIns="0" rtlCol="0" anchor="ctr"/>
          <a:lstStyle/>
          <a:p>
            <a:pPr marL="0" indent="0">
              <a:buNone/>
            </a:pPr>
            <a:r>
              <a:rPr lang="en-US" sz="1000" b="1" dirty="0">
                <a:solidFill>
                  <a:srgbClr val="FD7E4F"/>
                </a:solidFill>
                <a:latin typeface="Calibri" pitchFamily="34" charset="0"/>
                <a:ea typeface="Calibri" pitchFamily="34" charset="-122"/>
                <a:cs typeface="Calibri" pitchFamily="34" charset="-120"/>
              </a:rPr>
              <a:t>EDGE CASES &amp; ERROR HANDLING</a:t>
            </a:r>
            <a:endParaRPr lang="en-US" sz="1000" dirty="0"/>
          </a:p>
        </p:txBody>
      </p:sp>
      <p:sp>
        <p:nvSpPr>
          <p:cNvPr id="13" name="Text 11"/>
          <p:cNvSpPr/>
          <p:nvPr/>
        </p:nvSpPr>
        <p:spPr>
          <a:xfrm>
            <a:off x="4983480" y="3977640"/>
            <a:ext cx="3383280" cy="54864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[How does your system handle failures, bad inputs, or unexpected scenarios?]</a:t>
            </a:r>
            <a:endParaRPr lang="en-US" sz="1050" dirty="0"/>
          </a:p>
        </p:txBody>
      </p:sp>
      <p:pic>
        <p:nvPicPr>
          <p:cNvPr id="8" name="Picture 7">
            <a:extLst>
              <a:ext uri="{FF2B5EF4-FFF2-40B4-BE49-F238E27FC236}">
                <a16:creationId xmlns:a16="http://schemas.microsoft.com/office/drawing/2014/main" id="{C214B725-B51A-4C46-8777-63F7ACA6B233}"/>
              </a:ext>
            </a:extLst>
          </p:cNvPr>
          <p:cNvPicPr>
            <a:picLocks noChangeAspect="1"/>
          </p:cNvPicPr>
          <p:nvPr/>
        </p:nvPicPr>
        <p:blipFill>
          <a:blip r:embed="rId3"/>
          <a:stretch>
            <a:fillRect/>
          </a:stretch>
        </p:blipFill>
        <p:spPr>
          <a:xfrm>
            <a:off x="0" y="35744"/>
            <a:ext cx="9144000" cy="5084896"/>
          </a:xfrm>
          <a:prstGeom prst="rect">
            <a:avLst/>
          </a:prstGeom>
        </p:spPr>
      </p:pic>
    </p:spTree>
    <p:extLst>
      <p:ext uri="{BB962C8B-B14F-4D97-AF65-F5344CB8AC3E}">
        <p14:creationId xmlns:p14="http://schemas.microsoft.com/office/powerpoint/2010/main" val="486186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bg>
      <p:bgPr>
        <a:solidFill>
          <a:srgbClr val="FBF7F5"/>
        </a:solidFill>
        <a:effectLst/>
      </p:bgPr>
    </p:bg>
    <p:spTree>
      <p:nvGrpSpPr>
        <p:cNvPr id="1" name=""/>
        <p:cNvGrpSpPr/>
        <p:nvPr/>
      </p:nvGrpSpPr>
      <p:grpSpPr>
        <a:xfrm>
          <a:off x="0" y="0"/>
          <a:ext cx="0" cy="0"/>
          <a:chOff x="0" y="0"/>
          <a:chExt cx="0" cy="0"/>
        </a:xfrm>
      </p:grpSpPr>
      <p:sp>
        <p:nvSpPr>
          <p:cNvPr id="2" name="Shape 0"/>
          <p:cNvSpPr/>
          <p:nvPr/>
        </p:nvSpPr>
        <p:spPr>
          <a:xfrm>
            <a:off x="0" y="4800600"/>
            <a:ext cx="9144000" cy="342900"/>
          </a:xfrm>
          <a:prstGeom prst="rect">
            <a:avLst/>
          </a:prstGeom>
          <a:solidFill>
            <a:srgbClr val="2D1A12"/>
          </a:solidFill>
          <a:ln/>
        </p:spPr>
      </p:sp>
      <p:sp>
        <p:nvSpPr>
          <p:cNvPr id="3" name="Text 1"/>
          <p:cNvSpPr/>
          <p:nvPr/>
        </p:nvSpPr>
        <p:spPr>
          <a:xfrm>
            <a:off x="457200" y="4818888"/>
            <a:ext cx="3657600" cy="301752"/>
          </a:xfrm>
          <a:prstGeom prst="rect">
            <a:avLst/>
          </a:prstGeom>
          <a:noFill/>
          <a:ln/>
        </p:spPr>
        <p:txBody>
          <a:bodyPr wrap="square" lIns="0" tIns="0" rIns="0" bIns="0" rtlCol="0" anchor="ctr"/>
          <a:lstStyle/>
          <a:p>
            <a:pPr marL="0" indent="0">
              <a:buNone/>
            </a:pPr>
            <a:r>
              <a:rPr lang="en-US" sz="800" b="1" kern="0" spc="200" dirty="0">
                <a:solidFill>
                  <a:srgbClr val="FD7E4F"/>
                </a:solidFill>
                <a:latin typeface="Calibri" pitchFamily="34" charset="0"/>
                <a:ea typeface="Calibri" pitchFamily="34" charset="-122"/>
                <a:cs typeface="Calibri" pitchFamily="34" charset="-120"/>
              </a:rPr>
              <a:t>KOBIE LAUNCHPAD 2026</a:t>
            </a:r>
            <a:endParaRPr lang="en-US" sz="800" dirty="0"/>
          </a:p>
        </p:txBody>
      </p:sp>
      <p:sp>
        <p:nvSpPr>
          <p:cNvPr id="4" name="Text 2"/>
          <p:cNvSpPr/>
          <p:nvPr/>
        </p:nvSpPr>
        <p:spPr>
          <a:xfrm>
            <a:off x="7772400" y="4818888"/>
            <a:ext cx="914400" cy="301752"/>
          </a:xfrm>
          <a:prstGeom prst="rect">
            <a:avLst/>
          </a:prstGeom>
          <a:noFill/>
          <a:ln/>
        </p:spPr>
        <p:txBody>
          <a:bodyPr wrap="square" lIns="0" tIns="0" rIns="0" bIns="0" rtlCol="0" anchor="ctr"/>
          <a:lstStyle/>
          <a:p>
            <a:pPr marL="0" indent="0" algn="r">
              <a:buNone/>
            </a:pPr>
            <a:r>
              <a:rPr lang="en-US" sz="800" dirty="0">
                <a:solidFill>
                  <a:srgbClr val="9CA3AF"/>
                </a:solidFill>
                <a:latin typeface="Calibri" pitchFamily="34" charset="0"/>
                <a:ea typeface="Calibri" pitchFamily="34" charset="-122"/>
                <a:cs typeface="Calibri" pitchFamily="34" charset="-120"/>
              </a:rPr>
              <a:t>11/ 13</a:t>
            </a:r>
            <a:endParaRPr lang="en-US" sz="800" dirty="0"/>
          </a:p>
        </p:txBody>
      </p:sp>
      <p:sp>
        <p:nvSpPr>
          <p:cNvPr id="5" name="Text 3"/>
          <p:cNvSpPr/>
          <p:nvPr/>
        </p:nvSpPr>
        <p:spPr>
          <a:xfrm>
            <a:off x="548640" y="320040"/>
            <a:ext cx="7315200" cy="548640"/>
          </a:xfrm>
          <a:prstGeom prst="rect">
            <a:avLst/>
          </a:prstGeom>
          <a:noFill/>
          <a:ln/>
        </p:spPr>
        <p:txBody>
          <a:bodyPr wrap="square" lIns="0" tIns="0" rIns="0" bIns="0" rtlCol="0" anchor="ctr"/>
          <a:lstStyle/>
          <a:p>
            <a:pPr marL="0" indent="0">
              <a:buNone/>
            </a:pPr>
            <a:r>
              <a:rPr lang="en-US" sz="2400" b="1" dirty="0">
                <a:solidFill>
                  <a:srgbClr val="1F2937"/>
                </a:solidFill>
                <a:latin typeface="Georgia" pitchFamily="34" charset="0"/>
                <a:ea typeface="Georgia" pitchFamily="34" charset="-122"/>
                <a:cs typeface="Georgia" pitchFamily="34" charset="-120"/>
              </a:rPr>
              <a:t>Feasibility, Timeline &amp; Team</a:t>
            </a:r>
            <a:endParaRPr lang="en-US" sz="2400" dirty="0"/>
          </a:p>
        </p:txBody>
      </p:sp>
      <p:pic>
        <p:nvPicPr>
          <p:cNvPr id="6" name="Image 0" descr="preencoded.png"/>
          <p:cNvPicPr>
            <a:picLocks noChangeAspect="1"/>
          </p:cNvPicPr>
          <p:nvPr/>
        </p:nvPicPr>
        <p:blipFill>
          <a:blip r:embed="rId3"/>
          <a:stretch>
            <a:fillRect/>
          </a:stretch>
        </p:blipFill>
        <p:spPr>
          <a:xfrm>
            <a:off x="548640" y="1033272"/>
            <a:ext cx="329184" cy="329184"/>
          </a:xfrm>
          <a:prstGeom prst="rect">
            <a:avLst/>
          </a:prstGeom>
        </p:spPr>
      </p:pic>
      <p:sp>
        <p:nvSpPr>
          <p:cNvPr id="7" name="Text 4"/>
          <p:cNvSpPr/>
          <p:nvPr/>
        </p:nvSpPr>
        <p:spPr>
          <a:xfrm>
            <a:off x="1005840" y="1005840"/>
            <a:ext cx="3200400" cy="384048"/>
          </a:xfrm>
          <a:prstGeom prst="rect">
            <a:avLst/>
          </a:prstGeom>
          <a:noFill/>
          <a:ln/>
        </p:spPr>
        <p:txBody>
          <a:bodyPr wrap="square" lIns="0" tIns="0" rIns="0" bIns="0" rtlCol="0" anchor="ctr"/>
          <a:lstStyle/>
          <a:p>
            <a:pPr marL="0" indent="0">
              <a:buNone/>
            </a:pPr>
            <a:r>
              <a:rPr lang="en-US" sz="1300" b="1" dirty="0">
                <a:solidFill>
                  <a:srgbClr val="FD7E4F"/>
                </a:solidFill>
                <a:latin typeface="Calibri" pitchFamily="34" charset="0"/>
                <a:ea typeface="Calibri" pitchFamily="34" charset="-122"/>
                <a:cs typeface="Calibri" pitchFamily="34" charset="-120"/>
              </a:rPr>
              <a:t>2-WEEK BUILD PLAN</a:t>
            </a:r>
            <a:endParaRPr lang="en-US" sz="1300" dirty="0"/>
          </a:p>
        </p:txBody>
      </p:sp>
      <p:sp>
        <p:nvSpPr>
          <p:cNvPr id="8" name="Shape 5"/>
          <p:cNvSpPr/>
          <p:nvPr/>
        </p:nvSpPr>
        <p:spPr>
          <a:xfrm>
            <a:off x="548640" y="1463040"/>
            <a:ext cx="3794760" cy="2468880"/>
          </a:xfrm>
          <a:prstGeom prst="rect">
            <a:avLst/>
          </a:prstGeom>
          <a:solidFill>
            <a:srgbClr val="FFFFFF"/>
          </a:solidFill>
          <a:ln w="12700">
            <a:solidFill>
              <a:srgbClr val="FDDDD0"/>
            </a:solidFill>
            <a:prstDash val="solid"/>
          </a:ln>
        </p:spPr>
      </p:sp>
      <p:sp>
        <p:nvSpPr>
          <p:cNvPr id="9" name="Text 6"/>
          <p:cNvSpPr/>
          <p:nvPr/>
        </p:nvSpPr>
        <p:spPr>
          <a:xfrm>
            <a:off x="731520" y="1508760"/>
            <a:ext cx="1371600" cy="274320"/>
          </a:xfrm>
          <a:prstGeom prst="rect">
            <a:avLst/>
          </a:prstGeom>
          <a:noFill/>
          <a:ln/>
        </p:spPr>
        <p:txBody>
          <a:bodyPr wrap="square" lIns="0" tIns="0" rIns="0" bIns="0"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Week 1</a:t>
            </a:r>
            <a:endParaRPr lang="en-US" sz="1100" dirty="0"/>
          </a:p>
        </p:txBody>
      </p:sp>
      <p:sp>
        <p:nvSpPr>
          <p:cNvPr id="10" name="Shape 7"/>
          <p:cNvSpPr/>
          <p:nvPr/>
        </p:nvSpPr>
        <p:spPr>
          <a:xfrm>
            <a:off x="731520" y="1783080"/>
            <a:ext cx="3383280" cy="27432"/>
          </a:xfrm>
          <a:prstGeom prst="rect">
            <a:avLst/>
          </a:prstGeom>
          <a:solidFill>
            <a:srgbClr val="FDDDD0"/>
          </a:solidFill>
          <a:ln/>
        </p:spPr>
      </p:sp>
      <p:sp>
        <p:nvSpPr>
          <p:cNvPr id="11" name="Text 8"/>
          <p:cNvSpPr/>
          <p:nvPr/>
        </p:nvSpPr>
        <p:spPr>
          <a:xfrm>
            <a:off x="731520" y="1874520"/>
            <a:ext cx="3383280" cy="64008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[What will you build in Week 1? What's your MVP?]</a:t>
            </a:r>
            <a:endParaRPr lang="en-US" sz="1050" dirty="0"/>
          </a:p>
        </p:txBody>
      </p:sp>
      <p:sp>
        <p:nvSpPr>
          <p:cNvPr id="12" name="Text 9"/>
          <p:cNvSpPr/>
          <p:nvPr/>
        </p:nvSpPr>
        <p:spPr>
          <a:xfrm>
            <a:off x="731520" y="2468880"/>
            <a:ext cx="1371600" cy="274320"/>
          </a:xfrm>
          <a:prstGeom prst="rect">
            <a:avLst/>
          </a:prstGeom>
          <a:noFill/>
          <a:ln/>
        </p:spPr>
        <p:txBody>
          <a:bodyPr wrap="square" lIns="0" tIns="0" rIns="0" bIns="0"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Week 2</a:t>
            </a:r>
            <a:endParaRPr lang="en-US" sz="1100" dirty="0"/>
          </a:p>
        </p:txBody>
      </p:sp>
      <p:sp>
        <p:nvSpPr>
          <p:cNvPr id="13" name="Shape 10"/>
          <p:cNvSpPr/>
          <p:nvPr/>
        </p:nvSpPr>
        <p:spPr>
          <a:xfrm>
            <a:off x="731520" y="2743200"/>
            <a:ext cx="3383280" cy="27432"/>
          </a:xfrm>
          <a:prstGeom prst="rect">
            <a:avLst/>
          </a:prstGeom>
          <a:solidFill>
            <a:srgbClr val="FDDDD0"/>
          </a:solidFill>
          <a:ln/>
        </p:spPr>
      </p:sp>
      <p:sp>
        <p:nvSpPr>
          <p:cNvPr id="14" name="Text 11"/>
          <p:cNvSpPr/>
          <p:nvPr/>
        </p:nvSpPr>
        <p:spPr>
          <a:xfrm>
            <a:off x="731520" y="2834640"/>
            <a:ext cx="3383280" cy="64008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[What do you harden, test, and polish in Week 2?]</a:t>
            </a:r>
            <a:endParaRPr lang="en-US" sz="1050" dirty="0"/>
          </a:p>
        </p:txBody>
      </p:sp>
      <p:sp>
        <p:nvSpPr>
          <p:cNvPr id="15" name="Text 12"/>
          <p:cNvSpPr/>
          <p:nvPr/>
        </p:nvSpPr>
        <p:spPr>
          <a:xfrm>
            <a:off x="731520" y="3429000"/>
            <a:ext cx="1371600" cy="274320"/>
          </a:xfrm>
          <a:prstGeom prst="rect">
            <a:avLst/>
          </a:prstGeom>
          <a:noFill/>
          <a:ln/>
        </p:spPr>
        <p:txBody>
          <a:bodyPr wrap="square" lIns="0" tIns="0" rIns="0" bIns="0"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Key Risks</a:t>
            </a:r>
            <a:endParaRPr lang="en-US" sz="1100" dirty="0"/>
          </a:p>
        </p:txBody>
      </p:sp>
      <p:sp>
        <p:nvSpPr>
          <p:cNvPr id="16" name="Text 13"/>
          <p:cNvSpPr/>
          <p:nvPr/>
        </p:nvSpPr>
        <p:spPr>
          <a:xfrm>
            <a:off x="731520" y="3657600"/>
            <a:ext cx="3383280" cy="22860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[Biggest risks and how you'll mitigate them]</a:t>
            </a:r>
            <a:endParaRPr lang="en-US" sz="1050" dirty="0"/>
          </a:p>
        </p:txBody>
      </p:sp>
      <p:pic>
        <p:nvPicPr>
          <p:cNvPr id="17" name="Image 1" descr="preencoded.png"/>
          <p:cNvPicPr>
            <a:picLocks noChangeAspect="1"/>
          </p:cNvPicPr>
          <p:nvPr/>
        </p:nvPicPr>
        <p:blipFill>
          <a:blip r:embed="rId4"/>
          <a:stretch>
            <a:fillRect/>
          </a:stretch>
        </p:blipFill>
        <p:spPr>
          <a:xfrm>
            <a:off x="4800600" y="1033272"/>
            <a:ext cx="329184" cy="329184"/>
          </a:xfrm>
          <a:prstGeom prst="rect">
            <a:avLst/>
          </a:prstGeom>
        </p:spPr>
      </p:pic>
      <p:sp>
        <p:nvSpPr>
          <p:cNvPr id="18" name="Text 14"/>
          <p:cNvSpPr/>
          <p:nvPr/>
        </p:nvSpPr>
        <p:spPr>
          <a:xfrm>
            <a:off x="5257800" y="1005840"/>
            <a:ext cx="3200400" cy="384048"/>
          </a:xfrm>
          <a:prstGeom prst="rect">
            <a:avLst/>
          </a:prstGeom>
          <a:noFill/>
          <a:ln/>
        </p:spPr>
        <p:txBody>
          <a:bodyPr wrap="square" lIns="0" tIns="0" rIns="0" bIns="0" rtlCol="0" anchor="ctr"/>
          <a:lstStyle/>
          <a:p>
            <a:pPr marL="0" indent="0">
              <a:buNone/>
            </a:pPr>
            <a:r>
              <a:rPr lang="en-US" sz="1300" b="1" dirty="0">
                <a:solidFill>
                  <a:srgbClr val="FD7E4F"/>
                </a:solidFill>
                <a:latin typeface="Calibri" pitchFamily="34" charset="0"/>
                <a:ea typeface="Calibri" pitchFamily="34" charset="-122"/>
                <a:cs typeface="Calibri" pitchFamily="34" charset="-120"/>
              </a:rPr>
              <a:t>TEAM &amp; READINESS</a:t>
            </a:r>
            <a:endParaRPr lang="en-US" sz="1300" dirty="0"/>
          </a:p>
        </p:txBody>
      </p:sp>
      <p:sp>
        <p:nvSpPr>
          <p:cNvPr id="19" name="Shape 15"/>
          <p:cNvSpPr/>
          <p:nvPr/>
        </p:nvSpPr>
        <p:spPr>
          <a:xfrm>
            <a:off x="4800600" y="1463040"/>
            <a:ext cx="3794760" cy="1371600"/>
          </a:xfrm>
          <a:prstGeom prst="rect">
            <a:avLst/>
          </a:prstGeom>
          <a:solidFill>
            <a:srgbClr val="FFFFFF"/>
          </a:solidFill>
          <a:ln w="12700">
            <a:solidFill>
              <a:srgbClr val="FDDDD0"/>
            </a:solidFill>
            <a:prstDash val="solid"/>
          </a:ln>
        </p:spPr>
      </p:sp>
      <p:sp>
        <p:nvSpPr>
          <p:cNvPr id="20" name="Text 16"/>
          <p:cNvSpPr/>
          <p:nvPr/>
        </p:nvSpPr>
        <p:spPr>
          <a:xfrm>
            <a:off x="4983480" y="1554480"/>
            <a:ext cx="3383280" cy="118872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How is work divided across the team?</a:t>
            </a:r>
            <a:endParaRPr lang="en-US" sz="1050" dirty="0"/>
          </a:p>
          <a:p>
            <a:pPr marL="0" indent="0">
              <a:buNone/>
            </a:pPr>
            <a:endParaRPr lang="en-US" sz="1050" dirty="0"/>
          </a:p>
          <a:p>
            <a:pPr marL="0" indent="0">
              <a:buNone/>
            </a:pPr>
            <a:r>
              <a:rPr lang="en-US" sz="1050" i="1" dirty="0">
                <a:solidFill>
                  <a:srgbClr val="C0876E"/>
                </a:solidFill>
                <a:latin typeface="Calibri" pitchFamily="34" charset="0"/>
                <a:ea typeface="Calibri" pitchFamily="34" charset="-122"/>
                <a:cs typeface="Calibri" pitchFamily="34" charset="-120"/>
              </a:rPr>
              <a:t>[Member 1] → [Component / responsibility]</a:t>
            </a:r>
            <a:endParaRPr lang="en-US" sz="1050" dirty="0"/>
          </a:p>
          <a:p>
            <a:pPr marL="0" indent="0">
              <a:buNone/>
            </a:pPr>
            <a:r>
              <a:rPr lang="en-US" sz="1050" i="1" dirty="0">
                <a:solidFill>
                  <a:srgbClr val="C0876E"/>
                </a:solidFill>
                <a:latin typeface="Calibri" pitchFamily="34" charset="0"/>
                <a:ea typeface="Calibri" pitchFamily="34" charset="-122"/>
                <a:cs typeface="Calibri" pitchFamily="34" charset="-120"/>
              </a:rPr>
              <a:t>[Member 2] → [Component / responsibility]</a:t>
            </a:r>
            <a:endParaRPr lang="en-US" sz="1050" dirty="0"/>
          </a:p>
          <a:p>
            <a:pPr marL="0" indent="0">
              <a:buNone/>
            </a:pPr>
            <a:r>
              <a:rPr lang="en-US" sz="1050" i="1" dirty="0">
                <a:solidFill>
                  <a:srgbClr val="C0876E"/>
                </a:solidFill>
                <a:latin typeface="Calibri" pitchFamily="34" charset="0"/>
                <a:ea typeface="Calibri" pitchFamily="34" charset="-122"/>
                <a:cs typeface="Calibri" pitchFamily="34" charset="-120"/>
              </a:rPr>
              <a:t>[Member 3] → [Component / responsibility]</a:t>
            </a:r>
            <a:endParaRPr lang="en-US" sz="1050" dirty="0"/>
          </a:p>
        </p:txBody>
      </p:sp>
      <p:sp>
        <p:nvSpPr>
          <p:cNvPr id="21" name="Shape 17"/>
          <p:cNvSpPr/>
          <p:nvPr/>
        </p:nvSpPr>
        <p:spPr>
          <a:xfrm>
            <a:off x="4800600" y="3017520"/>
            <a:ext cx="3794760" cy="914400"/>
          </a:xfrm>
          <a:prstGeom prst="rect">
            <a:avLst/>
          </a:prstGeom>
          <a:solidFill>
            <a:srgbClr val="FFFFFF"/>
          </a:solidFill>
          <a:ln w="12700">
            <a:solidFill>
              <a:srgbClr val="FDDDD0"/>
            </a:solidFill>
            <a:prstDash val="solid"/>
          </a:ln>
        </p:spPr>
      </p:sp>
      <p:sp>
        <p:nvSpPr>
          <p:cNvPr id="22" name="Text 18"/>
          <p:cNvSpPr/>
          <p:nvPr/>
        </p:nvSpPr>
        <p:spPr>
          <a:xfrm>
            <a:off x="4983480" y="3063240"/>
            <a:ext cx="3383280" cy="274320"/>
          </a:xfrm>
          <a:prstGeom prst="rect">
            <a:avLst/>
          </a:prstGeom>
          <a:noFill/>
          <a:ln/>
        </p:spPr>
        <p:txBody>
          <a:bodyPr wrap="square" lIns="0" tIns="0" rIns="0" bIns="0" rtlCol="0" anchor="ctr"/>
          <a:lstStyle/>
          <a:p>
            <a:pPr marL="0" indent="0">
              <a:buNone/>
            </a:pPr>
            <a:r>
              <a:rPr lang="en-US" sz="1000" b="1" dirty="0">
                <a:solidFill>
                  <a:srgbClr val="FD7E4F"/>
                </a:solidFill>
                <a:latin typeface="Calibri" pitchFamily="34" charset="0"/>
                <a:ea typeface="Calibri" pitchFamily="34" charset="-122"/>
                <a:cs typeface="Calibri" pitchFamily="34" charset="-120"/>
              </a:rPr>
              <a:t>MVP vs. STRETCH GOALS</a:t>
            </a:r>
            <a:endParaRPr lang="en-US" sz="1000" dirty="0"/>
          </a:p>
        </p:txBody>
      </p:sp>
      <p:sp>
        <p:nvSpPr>
          <p:cNvPr id="23" name="Text 19"/>
          <p:cNvSpPr/>
          <p:nvPr/>
        </p:nvSpPr>
        <p:spPr>
          <a:xfrm>
            <a:off x="4983480" y="3337560"/>
            <a:ext cx="3383280" cy="50292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[What's your minimum viable submission vs. what you'll add if time permits?]</a:t>
            </a:r>
            <a:endParaRPr lang="en-US" sz="1050" dirty="0"/>
          </a:p>
        </p:txBody>
      </p:sp>
      <p:sp>
        <p:nvSpPr>
          <p:cNvPr id="24" name="Shape 20"/>
          <p:cNvSpPr/>
          <p:nvPr/>
        </p:nvSpPr>
        <p:spPr>
          <a:xfrm>
            <a:off x="548640" y="4069080"/>
            <a:ext cx="8046720" cy="548640"/>
          </a:xfrm>
          <a:prstGeom prst="rect">
            <a:avLst/>
          </a:prstGeom>
          <a:solidFill>
            <a:srgbClr val="FFFFFF"/>
          </a:solidFill>
          <a:ln w="19050">
            <a:solidFill>
              <a:srgbClr val="FD7E4F"/>
            </a:solidFill>
            <a:prstDash val="solid"/>
          </a:ln>
        </p:spPr>
      </p:sp>
      <p:sp>
        <p:nvSpPr>
          <p:cNvPr id="25" name="Shape 21"/>
          <p:cNvSpPr/>
          <p:nvPr/>
        </p:nvSpPr>
        <p:spPr>
          <a:xfrm>
            <a:off x="548640" y="4069080"/>
            <a:ext cx="64008" cy="548640"/>
          </a:xfrm>
          <a:prstGeom prst="rect">
            <a:avLst/>
          </a:prstGeom>
          <a:solidFill>
            <a:srgbClr val="FD7E4F"/>
          </a:solidFill>
          <a:ln/>
        </p:spPr>
      </p:sp>
      <p:sp>
        <p:nvSpPr>
          <p:cNvPr id="26" name="Text 22"/>
          <p:cNvSpPr/>
          <p:nvPr/>
        </p:nvSpPr>
        <p:spPr>
          <a:xfrm>
            <a:off x="777240" y="4114800"/>
            <a:ext cx="7589520" cy="411480"/>
          </a:xfrm>
          <a:prstGeom prst="rect">
            <a:avLst/>
          </a:prstGeom>
          <a:noFill/>
          <a:ln/>
        </p:spPr>
        <p:txBody>
          <a:bodyPr wrap="square" lIns="0" tIns="0" rIns="0" bIns="0" rtlCol="0" anchor="t"/>
          <a:lstStyle/>
          <a:p>
            <a:pPr marL="0" indent="0">
              <a:buNone/>
            </a:pPr>
            <a:r>
              <a:rPr lang="en-US" sz="1100" i="1" dirty="0">
                <a:solidFill>
                  <a:srgbClr val="C0876E"/>
                </a:solidFill>
                <a:latin typeface="Calibri" pitchFamily="34" charset="0"/>
                <a:ea typeface="Calibri" pitchFamily="34" charset="-122"/>
                <a:cs typeface="Calibri" pitchFamily="34" charset="-120"/>
              </a:rPr>
              <a:t>Preliminary Work Done: [Any prototyping, EDA, or experiments you've already completed — shows readiness and initiative]</a:t>
            </a:r>
            <a:endParaRPr lang="en-US" sz="1100" dirty="0"/>
          </a:p>
        </p:txBody>
      </p:sp>
      <p:pic>
        <p:nvPicPr>
          <p:cNvPr id="28" name="Picture 27">
            <a:extLst>
              <a:ext uri="{FF2B5EF4-FFF2-40B4-BE49-F238E27FC236}">
                <a16:creationId xmlns:a16="http://schemas.microsoft.com/office/drawing/2014/main" id="{6BB7C96D-547B-4775-80E9-C39AC630BF73}"/>
              </a:ext>
            </a:extLst>
          </p:cNvPr>
          <p:cNvPicPr>
            <a:picLocks noChangeAspect="1"/>
          </p:cNvPicPr>
          <p:nvPr/>
        </p:nvPicPr>
        <p:blipFill>
          <a:blip r:embed="rId5"/>
          <a:stretch>
            <a:fillRect/>
          </a:stretch>
        </p:blipFill>
        <p:spPr>
          <a:xfrm>
            <a:off x="45720" y="229870"/>
            <a:ext cx="9103360" cy="44780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7F5"/>
        </a:solidFill>
        <a:effectLst/>
      </p:bgPr>
    </p:bg>
    <p:spTree>
      <p:nvGrpSpPr>
        <p:cNvPr id="1" name=""/>
        <p:cNvGrpSpPr/>
        <p:nvPr/>
      </p:nvGrpSpPr>
      <p:grpSpPr>
        <a:xfrm>
          <a:off x="0" y="0"/>
          <a:ext cx="0" cy="0"/>
          <a:chOff x="0" y="0"/>
          <a:chExt cx="0" cy="0"/>
        </a:xfrm>
      </p:grpSpPr>
      <p:sp>
        <p:nvSpPr>
          <p:cNvPr id="2" name="Shape 0"/>
          <p:cNvSpPr/>
          <p:nvPr/>
        </p:nvSpPr>
        <p:spPr>
          <a:xfrm>
            <a:off x="0" y="4800600"/>
            <a:ext cx="9144000" cy="342900"/>
          </a:xfrm>
          <a:prstGeom prst="rect">
            <a:avLst/>
          </a:prstGeom>
          <a:solidFill>
            <a:srgbClr val="2D1A12"/>
          </a:solidFill>
          <a:ln/>
        </p:spPr>
      </p:sp>
      <p:sp>
        <p:nvSpPr>
          <p:cNvPr id="3" name="Text 1"/>
          <p:cNvSpPr/>
          <p:nvPr/>
        </p:nvSpPr>
        <p:spPr>
          <a:xfrm>
            <a:off x="457200" y="4818888"/>
            <a:ext cx="3657600" cy="301752"/>
          </a:xfrm>
          <a:prstGeom prst="rect">
            <a:avLst/>
          </a:prstGeom>
          <a:noFill/>
          <a:ln/>
        </p:spPr>
        <p:txBody>
          <a:bodyPr wrap="square" lIns="0" tIns="0" rIns="0" bIns="0" rtlCol="0" anchor="ctr"/>
          <a:lstStyle/>
          <a:p>
            <a:pPr marL="0" indent="0">
              <a:buNone/>
            </a:pPr>
            <a:r>
              <a:rPr lang="en-US" sz="800" b="1" kern="0" spc="200" dirty="0">
                <a:solidFill>
                  <a:srgbClr val="FD7E4F"/>
                </a:solidFill>
                <a:latin typeface="Calibri" pitchFamily="34" charset="0"/>
                <a:ea typeface="Calibri" pitchFamily="34" charset="-122"/>
                <a:cs typeface="Calibri" pitchFamily="34" charset="-120"/>
              </a:rPr>
              <a:t>KOBIE LAUNCHPAD 2026</a:t>
            </a:r>
            <a:endParaRPr lang="en-US" sz="800" dirty="0"/>
          </a:p>
        </p:txBody>
      </p:sp>
      <p:sp>
        <p:nvSpPr>
          <p:cNvPr id="4" name="Text 2"/>
          <p:cNvSpPr/>
          <p:nvPr/>
        </p:nvSpPr>
        <p:spPr>
          <a:xfrm>
            <a:off x="7772400" y="4818888"/>
            <a:ext cx="914400" cy="301752"/>
          </a:xfrm>
          <a:prstGeom prst="rect">
            <a:avLst/>
          </a:prstGeom>
          <a:noFill/>
          <a:ln/>
        </p:spPr>
        <p:txBody>
          <a:bodyPr wrap="square" lIns="0" tIns="0" rIns="0" bIns="0" rtlCol="0" anchor="ctr"/>
          <a:lstStyle/>
          <a:p>
            <a:pPr marL="0" indent="0" algn="r">
              <a:buNone/>
            </a:pPr>
            <a:r>
              <a:rPr lang="en-US" sz="800" dirty="0">
                <a:solidFill>
                  <a:srgbClr val="9CA3AF"/>
                </a:solidFill>
                <a:latin typeface="Calibri" pitchFamily="34" charset="0"/>
                <a:ea typeface="Calibri" pitchFamily="34" charset="-122"/>
                <a:cs typeface="Calibri" pitchFamily="34" charset="-120"/>
              </a:rPr>
              <a:t>12/ 13</a:t>
            </a:r>
            <a:endParaRPr lang="en-US" sz="800" dirty="0"/>
          </a:p>
        </p:txBody>
      </p:sp>
      <p:sp>
        <p:nvSpPr>
          <p:cNvPr id="5" name="Text 3"/>
          <p:cNvSpPr/>
          <p:nvPr/>
        </p:nvSpPr>
        <p:spPr>
          <a:xfrm>
            <a:off x="548640" y="320040"/>
            <a:ext cx="7315200" cy="548640"/>
          </a:xfrm>
          <a:prstGeom prst="rect">
            <a:avLst/>
          </a:prstGeom>
          <a:noFill/>
          <a:ln/>
        </p:spPr>
        <p:txBody>
          <a:bodyPr wrap="square" lIns="0" tIns="0" rIns="0" bIns="0" rtlCol="0" anchor="ctr"/>
          <a:lstStyle/>
          <a:p>
            <a:pPr marL="0" indent="0">
              <a:buNone/>
            </a:pPr>
            <a:r>
              <a:rPr lang="en-US" sz="2400" b="1" dirty="0">
                <a:solidFill>
                  <a:srgbClr val="1F2937"/>
                </a:solidFill>
                <a:latin typeface="Georgia" pitchFamily="34" charset="0"/>
                <a:ea typeface="Georgia" pitchFamily="34" charset="-122"/>
                <a:cs typeface="Georgia" pitchFamily="34" charset="-120"/>
              </a:rPr>
              <a:t>Feasibility, Timeline &amp; Team</a:t>
            </a:r>
            <a:endParaRPr lang="en-US" sz="2400" dirty="0"/>
          </a:p>
        </p:txBody>
      </p:sp>
      <p:pic>
        <p:nvPicPr>
          <p:cNvPr id="6" name="Image 0" descr="preencoded.png"/>
          <p:cNvPicPr>
            <a:picLocks noChangeAspect="1"/>
          </p:cNvPicPr>
          <p:nvPr/>
        </p:nvPicPr>
        <p:blipFill>
          <a:blip r:embed="rId3"/>
          <a:stretch>
            <a:fillRect/>
          </a:stretch>
        </p:blipFill>
        <p:spPr>
          <a:xfrm>
            <a:off x="548640" y="1033272"/>
            <a:ext cx="329184" cy="329184"/>
          </a:xfrm>
          <a:prstGeom prst="rect">
            <a:avLst/>
          </a:prstGeom>
        </p:spPr>
      </p:pic>
      <p:sp>
        <p:nvSpPr>
          <p:cNvPr id="7" name="Text 4"/>
          <p:cNvSpPr/>
          <p:nvPr/>
        </p:nvSpPr>
        <p:spPr>
          <a:xfrm>
            <a:off x="1005840" y="1005840"/>
            <a:ext cx="3200400" cy="384048"/>
          </a:xfrm>
          <a:prstGeom prst="rect">
            <a:avLst/>
          </a:prstGeom>
          <a:noFill/>
          <a:ln/>
        </p:spPr>
        <p:txBody>
          <a:bodyPr wrap="square" lIns="0" tIns="0" rIns="0" bIns="0" rtlCol="0" anchor="ctr"/>
          <a:lstStyle/>
          <a:p>
            <a:pPr marL="0" indent="0">
              <a:buNone/>
            </a:pPr>
            <a:r>
              <a:rPr lang="en-US" sz="1300" b="1" dirty="0">
                <a:solidFill>
                  <a:srgbClr val="FD7E4F"/>
                </a:solidFill>
                <a:latin typeface="Calibri" pitchFamily="34" charset="0"/>
                <a:ea typeface="Calibri" pitchFamily="34" charset="-122"/>
                <a:cs typeface="Calibri" pitchFamily="34" charset="-120"/>
              </a:rPr>
              <a:t>2-WEEK BUILD PLAN</a:t>
            </a:r>
            <a:endParaRPr lang="en-US" sz="1300" dirty="0"/>
          </a:p>
        </p:txBody>
      </p:sp>
      <p:sp>
        <p:nvSpPr>
          <p:cNvPr id="8" name="Shape 5"/>
          <p:cNvSpPr/>
          <p:nvPr/>
        </p:nvSpPr>
        <p:spPr>
          <a:xfrm>
            <a:off x="548640" y="1463040"/>
            <a:ext cx="3794760" cy="2468880"/>
          </a:xfrm>
          <a:prstGeom prst="rect">
            <a:avLst/>
          </a:prstGeom>
          <a:solidFill>
            <a:srgbClr val="FFFFFF"/>
          </a:solidFill>
          <a:ln w="12700">
            <a:solidFill>
              <a:srgbClr val="FDDDD0"/>
            </a:solidFill>
            <a:prstDash val="solid"/>
          </a:ln>
        </p:spPr>
      </p:sp>
      <p:sp>
        <p:nvSpPr>
          <p:cNvPr id="9" name="Text 6"/>
          <p:cNvSpPr/>
          <p:nvPr/>
        </p:nvSpPr>
        <p:spPr>
          <a:xfrm>
            <a:off x="731520" y="1508760"/>
            <a:ext cx="1371600" cy="274320"/>
          </a:xfrm>
          <a:prstGeom prst="rect">
            <a:avLst/>
          </a:prstGeom>
          <a:noFill/>
          <a:ln/>
        </p:spPr>
        <p:txBody>
          <a:bodyPr wrap="square" lIns="0" tIns="0" rIns="0" bIns="0"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Week 1</a:t>
            </a:r>
            <a:endParaRPr lang="en-US" sz="1100" dirty="0"/>
          </a:p>
        </p:txBody>
      </p:sp>
      <p:sp>
        <p:nvSpPr>
          <p:cNvPr id="10" name="Shape 7"/>
          <p:cNvSpPr/>
          <p:nvPr/>
        </p:nvSpPr>
        <p:spPr>
          <a:xfrm>
            <a:off x="731520" y="1783080"/>
            <a:ext cx="3383280" cy="27432"/>
          </a:xfrm>
          <a:prstGeom prst="rect">
            <a:avLst/>
          </a:prstGeom>
          <a:solidFill>
            <a:srgbClr val="FDDDD0"/>
          </a:solidFill>
          <a:ln/>
        </p:spPr>
      </p:sp>
      <p:sp>
        <p:nvSpPr>
          <p:cNvPr id="11" name="Text 8"/>
          <p:cNvSpPr/>
          <p:nvPr/>
        </p:nvSpPr>
        <p:spPr>
          <a:xfrm>
            <a:off x="731520" y="1874520"/>
            <a:ext cx="3383280" cy="64008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[What will you build in Week 1? What's your MVP?]</a:t>
            </a:r>
            <a:endParaRPr lang="en-US" sz="1050" dirty="0"/>
          </a:p>
        </p:txBody>
      </p:sp>
      <p:sp>
        <p:nvSpPr>
          <p:cNvPr id="12" name="Text 9"/>
          <p:cNvSpPr/>
          <p:nvPr/>
        </p:nvSpPr>
        <p:spPr>
          <a:xfrm>
            <a:off x="731520" y="2468880"/>
            <a:ext cx="1371600" cy="274320"/>
          </a:xfrm>
          <a:prstGeom prst="rect">
            <a:avLst/>
          </a:prstGeom>
          <a:noFill/>
          <a:ln/>
        </p:spPr>
        <p:txBody>
          <a:bodyPr wrap="square" lIns="0" tIns="0" rIns="0" bIns="0"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Week 2</a:t>
            </a:r>
            <a:endParaRPr lang="en-US" sz="1100" dirty="0"/>
          </a:p>
        </p:txBody>
      </p:sp>
      <p:sp>
        <p:nvSpPr>
          <p:cNvPr id="13" name="Shape 10"/>
          <p:cNvSpPr/>
          <p:nvPr/>
        </p:nvSpPr>
        <p:spPr>
          <a:xfrm>
            <a:off x="731520" y="2743200"/>
            <a:ext cx="3383280" cy="27432"/>
          </a:xfrm>
          <a:prstGeom prst="rect">
            <a:avLst/>
          </a:prstGeom>
          <a:solidFill>
            <a:srgbClr val="FDDDD0"/>
          </a:solidFill>
          <a:ln/>
        </p:spPr>
      </p:sp>
      <p:sp>
        <p:nvSpPr>
          <p:cNvPr id="14" name="Text 11"/>
          <p:cNvSpPr/>
          <p:nvPr/>
        </p:nvSpPr>
        <p:spPr>
          <a:xfrm>
            <a:off x="731520" y="2834640"/>
            <a:ext cx="3383280" cy="64008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[What do you harden, test, and polish in Week 2?]</a:t>
            </a:r>
            <a:endParaRPr lang="en-US" sz="1050" dirty="0"/>
          </a:p>
        </p:txBody>
      </p:sp>
      <p:sp>
        <p:nvSpPr>
          <p:cNvPr id="15" name="Text 12"/>
          <p:cNvSpPr/>
          <p:nvPr/>
        </p:nvSpPr>
        <p:spPr>
          <a:xfrm>
            <a:off x="731520" y="3429000"/>
            <a:ext cx="1371600" cy="274320"/>
          </a:xfrm>
          <a:prstGeom prst="rect">
            <a:avLst/>
          </a:prstGeom>
          <a:noFill/>
          <a:ln/>
        </p:spPr>
        <p:txBody>
          <a:bodyPr wrap="square" lIns="0" tIns="0" rIns="0" bIns="0"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Key Risks</a:t>
            </a:r>
            <a:endParaRPr lang="en-US" sz="1100" dirty="0"/>
          </a:p>
        </p:txBody>
      </p:sp>
      <p:sp>
        <p:nvSpPr>
          <p:cNvPr id="16" name="Text 13"/>
          <p:cNvSpPr/>
          <p:nvPr/>
        </p:nvSpPr>
        <p:spPr>
          <a:xfrm>
            <a:off x="731520" y="3657600"/>
            <a:ext cx="3383280" cy="22860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[Biggest risks and how you'll mitigate them]</a:t>
            </a:r>
            <a:endParaRPr lang="en-US" sz="1050" dirty="0"/>
          </a:p>
        </p:txBody>
      </p:sp>
      <p:pic>
        <p:nvPicPr>
          <p:cNvPr id="17" name="Image 1" descr="preencoded.png"/>
          <p:cNvPicPr>
            <a:picLocks noChangeAspect="1"/>
          </p:cNvPicPr>
          <p:nvPr/>
        </p:nvPicPr>
        <p:blipFill>
          <a:blip r:embed="rId4"/>
          <a:stretch>
            <a:fillRect/>
          </a:stretch>
        </p:blipFill>
        <p:spPr>
          <a:xfrm>
            <a:off x="4800600" y="1033272"/>
            <a:ext cx="329184" cy="329184"/>
          </a:xfrm>
          <a:prstGeom prst="rect">
            <a:avLst/>
          </a:prstGeom>
        </p:spPr>
      </p:pic>
      <p:sp>
        <p:nvSpPr>
          <p:cNvPr id="18" name="Text 14"/>
          <p:cNvSpPr/>
          <p:nvPr/>
        </p:nvSpPr>
        <p:spPr>
          <a:xfrm>
            <a:off x="5257800" y="1005840"/>
            <a:ext cx="3200400" cy="384048"/>
          </a:xfrm>
          <a:prstGeom prst="rect">
            <a:avLst/>
          </a:prstGeom>
          <a:noFill/>
          <a:ln/>
        </p:spPr>
        <p:txBody>
          <a:bodyPr wrap="square" lIns="0" tIns="0" rIns="0" bIns="0" rtlCol="0" anchor="ctr"/>
          <a:lstStyle/>
          <a:p>
            <a:pPr marL="0" indent="0">
              <a:buNone/>
            </a:pPr>
            <a:r>
              <a:rPr lang="en-US" sz="1300" b="1" dirty="0">
                <a:solidFill>
                  <a:srgbClr val="FD7E4F"/>
                </a:solidFill>
                <a:latin typeface="Calibri" pitchFamily="34" charset="0"/>
                <a:ea typeface="Calibri" pitchFamily="34" charset="-122"/>
                <a:cs typeface="Calibri" pitchFamily="34" charset="-120"/>
              </a:rPr>
              <a:t>TEAM &amp; READINESS</a:t>
            </a:r>
            <a:endParaRPr lang="en-US" sz="1300" dirty="0"/>
          </a:p>
        </p:txBody>
      </p:sp>
      <p:sp>
        <p:nvSpPr>
          <p:cNvPr id="20" name="Text 16"/>
          <p:cNvSpPr/>
          <p:nvPr/>
        </p:nvSpPr>
        <p:spPr>
          <a:xfrm>
            <a:off x="4983480" y="1554480"/>
            <a:ext cx="3383280" cy="118872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How is work divided across the team?</a:t>
            </a:r>
            <a:endParaRPr lang="en-US" sz="1050" dirty="0"/>
          </a:p>
          <a:p>
            <a:pPr marL="0" indent="0">
              <a:buNone/>
            </a:pPr>
            <a:endParaRPr lang="en-US" sz="1050" dirty="0"/>
          </a:p>
          <a:p>
            <a:pPr marL="0" indent="0">
              <a:buNone/>
            </a:pPr>
            <a:r>
              <a:rPr lang="en-US" sz="1050" i="1" dirty="0">
                <a:solidFill>
                  <a:srgbClr val="C0876E"/>
                </a:solidFill>
                <a:latin typeface="Calibri" pitchFamily="34" charset="0"/>
                <a:ea typeface="Calibri" pitchFamily="34" charset="-122"/>
                <a:cs typeface="Calibri" pitchFamily="34" charset="-120"/>
              </a:rPr>
              <a:t>[Member 1] → [Component / responsibility]</a:t>
            </a:r>
            <a:endParaRPr lang="en-US" sz="1050" dirty="0"/>
          </a:p>
          <a:p>
            <a:pPr marL="0" indent="0">
              <a:buNone/>
            </a:pPr>
            <a:r>
              <a:rPr lang="en-US" sz="1050" i="1" dirty="0">
                <a:solidFill>
                  <a:srgbClr val="C0876E"/>
                </a:solidFill>
                <a:latin typeface="Calibri" pitchFamily="34" charset="0"/>
                <a:ea typeface="Calibri" pitchFamily="34" charset="-122"/>
                <a:cs typeface="Calibri" pitchFamily="34" charset="-120"/>
              </a:rPr>
              <a:t>[Member 2] → [Component / responsibility]</a:t>
            </a:r>
            <a:endParaRPr lang="en-US" sz="1050" dirty="0"/>
          </a:p>
          <a:p>
            <a:pPr marL="0" indent="0">
              <a:buNone/>
            </a:pPr>
            <a:r>
              <a:rPr lang="en-US" sz="1050" i="1" dirty="0">
                <a:solidFill>
                  <a:srgbClr val="C0876E"/>
                </a:solidFill>
                <a:latin typeface="Calibri" pitchFamily="34" charset="0"/>
                <a:ea typeface="Calibri" pitchFamily="34" charset="-122"/>
                <a:cs typeface="Calibri" pitchFamily="34" charset="-120"/>
              </a:rPr>
              <a:t>[Member 3] → [Component / responsibility]</a:t>
            </a:r>
            <a:endParaRPr lang="en-US" sz="1050" dirty="0"/>
          </a:p>
        </p:txBody>
      </p:sp>
      <p:sp>
        <p:nvSpPr>
          <p:cNvPr id="22" name="Text 18"/>
          <p:cNvSpPr/>
          <p:nvPr/>
        </p:nvSpPr>
        <p:spPr>
          <a:xfrm>
            <a:off x="4983480" y="3063240"/>
            <a:ext cx="3383280" cy="274320"/>
          </a:xfrm>
          <a:prstGeom prst="rect">
            <a:avLst/>
          </a:prstGeom>
          <a:noFill/>
          <a:ln/>
        </p:spPr>
        <p:txBody>
          <a:bodyPr wrap="square" lIns="0" tIns="0" rIns="0" bIns="0" rtlCol="0" anchor="ctr"/>
          <a:lstStyle/>
          <a:p>
            <a:pPr marL="0" indent="0">
              <a:buNone/>
            </a:pPr>
            <a:r>
              <a:rPr lang="en-US" sz="1000" b="1" dirty="0">
                <a:solidFill>
                  <a:srgbClr val="FD7E4F"/>
                </a:solidFill>
                <a:latin typeface="Calibri" pitchFamily="34" charset="0"/>
                <a:ea typeface="Calibri" pitchFamily="34" charset="-122"/>
                <a:cs typeface="Calibri" pitchFamily="34" charset="-120"/>
              </a:rPr>
              <a:t>MVP vs. STRETCH GOALS</a:t>
            </a:r>
            <a:endParaRPr lang="en-US" sz="1000" dirty="0"/>
          </a:p>
        </p:txBody>
      </p:sp>
      <p:sp>
        <p:nvSpPr>
          <p:cNvPr id="23" name="Text 19"/>
          <p:cNvSpPr/>
          <p:nvPr/>
        </p:nvSpPr>
        <p:spPr>
          <a:xfrm>
            <a:off x="4983480" y="3337560"/>
            <a:ext cx="3383280" cy="502920"/>
          </a:xfrm>
          <a:prstGeom prst="rect">
            <a:avLst/>
          </a:prstGeom>
          <a:noFill/>
          <a:ln/>
        </p:spPr>
        <p:txBody>
          <a:bodyPr wrap="square" lIns="0" tIns="0" rIns="0" bIns="0" rtlCol="0" anchor="t"/>
          <a:lstStyle/>
          <a:p>
            <a:pPr marL="0" indent="0">
              <a:buNone/>
            </a:pPr>
            <a:r>
              <a:rPr lang="en-US" sz="1050" i="1" dirty="0">
                <a:solidFill>
                  <a:srgbClr val="C0876E"/>
                </a:solidFill>
                <a:latin typeface="Calibri" pitchFamily="34" charset="0"/>
                <a:ea typeface="Calibri" pitchFamily="34" charset="-122"/>
                <a:cs typeface="Calibri" pitchFamily="34" charset="-120"/>
              </a:rPr>
              <a:t>[What's your minimum viable submission vs. what you'll add if time permits?]</a:t>
            </a:r>
            <a:endParaRPr lang="en-US" sz="1050" dirty="0"/>
          </a:p>
        </p:txBody>
      </p:sp>
      <p:sp>
        <p:nvSpPr>
          <p:cNvPr id="25" name="Shape 21"/>
          <p:cNvSpPr/>
          <p:nvPr/>
        </p:nvSpPr>
        <p:spPr>
          <a:xfrm>
            <a:off x="548640" y="4069080"/>
            <a:ext cx="64008" cy="548640"/>
          </a:xfrm>
          <a:prstGeom prst="rect">
            <a:avLst/>
          </a:prstGeom>
          <a:solidFill>
            <a:srgbClr val="FD7E4F"/>
          </a:solidFill>
          <a:ln/>
        </p:spPr>
      </p:sp>
      <p:sp>
        <p:nvSpPr>
          <p:cNvPr id="26" name="Text 22"/>
          <p:cNvSpPr/>
          <p:nvPr/>
        </p:nvSpPr>
        <p:spPr>
          <a:xfrm>
            <a:off x="777240" y="4114800"/>
            <a:ext cx="7589520" cy="411480"/>
          </a:xfrm>
          <a:prstGeom prst="rect">
            <a:avLst/>
          </a:prstGeom>
          <a:noFill/>
          <a:ln/>
        </p:spPr>
        <p:txBody>
          <a:bodyPr wrap="square" lIns="0" tIns="0" rIns="0" bIns="0" rtlCol="0" anchor="t"/>
          <a:lstStyle/>
          <a:p>
            <a:pPr marL="0" indent="0">
              <a:buNone/>
            </a:pPr>
            <a:r>
              <a:rPr lang="en-US" sz="1100" i="1" dirty="0">
                <a:solidFill>
                  <a:srgbClr val="C0876E"/>
                </a:solidFill>
                <a:latin typeface="Calibri" pitchFamily="34" charset="0"/>
                <a:ea typeface="Calibri" pitchFamily="34" charset="-122"/>
                <a:cs typeface="Calibri" pitchFamily="34" charset="-120"/>
              </a:rPr>
              <a:t>Preliminary Work Done: [Any prototyping, EDA, or experiments you've already completed — shows readiness and initiative]</a:t>
            </a:r>
            <a:endParaRPr lang="en-US" sz="1100" dirty="0"/>
          </a:p>
        </p:txBody>
      </p:sp>
      <p:pic>
        <p:nvPicPr>
          <p:cNvPr id="29" name="Picture 28">
            <a:extLst>
              <a:ext uri="{FF2B5EF4-FFF2-40B4-BE49-F238E27FC236}">
                <a16:creationId xmlns:a16="http://schemas.microsoft.com/office/drawing/2014/main" id="{0A48B8E6-4B40-4F37-9599-79AB6BBB2F25}"/>
              </a:ext>
            </a:extLst>
          </p:cNvPr>
          <p:cNvPicPr>
            <a:picLocks noChangeAspect="1"/>
          </p:cNvPicPr>
          <p:nvPr/>
        </p:nvPicPr>
        <p:blipFill>
          <a:blip r:embed="rId5"/>
          <a:stretch>
            <a:fillRect/>
          </a:stretch>
        </p:blipFill>
        <p:spPr>
          <a:xfrm>
            <a:off x="372872" y="64135"/>
            <a:ext cx="7961884" cy="3035756"/>
          </a:xfrm>
          <a:prstGeom prst="rect">
            <a:avLst/>
          </a:prstGeom>
        </p:spPr>
      </p:pic>
      <p:sp>
        <p:nvSpPr>
          <p:cNvPr id="30" name="Text 7">
            <a:extLst>
              <a:ext uri="{FF2B5EF4-FFF2-40B4-BE49-F238E27FC236}">
                <a16:creationId xmlns:a16="http://schemas.microsoft.com/office/drawing/2014/main" id="{D96FAF97-D6F2-47C2-B927-CDAADFFE0E7E}"/>
              </a:ext>
            </a:extLst>
          </p:cNvPr>
          <p:cNvSpPr/>
          <p:nvPr/>
        </p:nvSpPr>
        <p:spPr>
          <a:xfrm>
            <a:off x="10055098" y="-503555"/>
            <a:ext cx="1105205" cy="119823"/>
          </a:xfrm>
          <a:prstGeom prst="rect">
            <a:avLst/>
          </a:prstGeom>
          <a:noFill/>
          <a:ln/>
        </p:spPr>
        <p:txBody>
          <a:bodyPr wrap="square" lIns="0" tIns="0" rIns="0" bIns="0" rtlCol="0" anchor="ctr"/>
          <a:lstStyle/>
          <a:p>
            <a:pPr marL="0" indent="0">
              <a:buNone/>
            </a:pPr>
            <a:endParaRPr lang="en-US" sz="1300" dirty="0"/>
          </a:p>
        </p:txBody>
      </p:sp>
      <p:pic>
        <p:nvPicPr>
          <p:cNvPr id="31" name="Picture 2" descr="Kobie | LinkedIn">
            <a:extLst>
              <a:ext uri="{FF2B5EF4-FFF2-40B4-BE49-F238E27FC236}">
                <a16:creationId xmlns:a16="http://schemas.microsoft.com/office/drawing/2014/main" id="{BBE1DCBE-30C5-4397-90A6-D0B60085964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16798" y="64135"/>
            <a:ext cx="657860" cy="65786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EFC6AC5D-DF57-4FC1-AA63-933B56D367A8}"/>
              </a:ext>
            </a:extLst>
          </p:cNvPr>
          <p:cNvPicPr>
            <a:picLocks noChangeAspect="1"/>
          </p:cNvPicPr>
          <p:nvPr/>
        </p:nvPicPr>
        <p:blipFill>
          <a:blip r:embed="rId7"/>
          <a:stretch>
            <a:fillRect/>
          </a:stretch>
        </p:blipFill>
        <p:spPr>
          <a:xfrm>
            <a:off x="372872" y="3118179"/>
            <a:ext cx="8085328" cy="1654989"/>
          </a:xfrm>
          <a:prstGeom prst="rect">
            <a:avLst/>
          </a:prstGeom>
        </p:spPr>
      </p:pic>
    </p:spTree>
    <p:extLst>
      <p:ext uri="{BB962C8B-B14F-4D97-AF65-F5344CB8AC3E}">
        <p14:creationId xmlns:p14="http://schemas.microsoft.com/office/powerpoint/2010/main" val="1123581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
        <p:cNvGrpSpPr/>
        <p:nvPr/>
      </p:nvGrpSpPr>
      <p:grpSpPr>
        <a:xfrm>
          <a:off x="0" y="0"/>
          <a:ext cx="0" cy="0"/>
          <a:chOff x="0" y="0"/>
          <a:chExt cx="0" cy="0"/>
        </a:xfrm>
      </p:grpSpPr>
      <p:sp>
        <p:nvSpPr>
          <p:cNvPr id="2" name="Shape 0"/>
          <p:cNvSpPr/>
          <p:nvPr/>
        </p:nvSpPr>
        <p:spPr>
          <a:xfrm>
            <a:off x="6858000" y="-1645920"/>
            <a:ext cx="4114800" cy="4114800"/>
          </a:xfrm>
          <a:prstGeom prst="ellipse">
            <a:avLst/>
          </a:prstGeom>
          <a:solidFill>
            <a:srgbClr val="FD7E4F">
              <a:alpha val="75000"/>
            </a:srgbClr>
          </a:solidFill>
          <a:ln/>
        </p:spPr>
      </p:sp>
      <p:sp>
        <p:nvSpPr>
          <p:cNvPr id="3" name="Shape 1"/>
          <p:cNvSpPr/>
          <p:nvPr/>
        </p:nvSpPr>
        <p:spPr>
          <a:xfrm>
            <a:off x="7589520" y="2560320"/>
            <a:ext cx="2743200" cy="2743200"/>
          </a:xfrm>
          <a:prstGeom prst="ellipse">
            <a:avLst/>
          </a:prstGeom>
          <a:solidFill>
            <a:srgbClr val="E5663A">
              <a:alpha val="55000"/>
            </a:srgbClr>
          </a:solidFill>
          <a:ln/>
        </p:spPr>
      </p:sp>
      <p:sp>
        <p:nvSpPr>
          <p:cNvPr id="4" name="Text 2"/>
          <p:cNvSpPr/>
          <p:nvPr/>
        </p:nvSpPr>
        <p:spPr>
          <a:xfrm>
            <a:off x="640080" y="457200"/>
            <a:ext cx="6400800" cy="365760"/>
          </a:xfrm>
          <a:prstGeom prst="rect">
            <a:avLst/>
          </a:prstGeom>
          <a:noFill/>
          <a:ln/>
        </p:spPr>
        <p:txBody>
          <a:bodyPr wrap="square" rtlCol="0" anchor="ctr"/>
          <a:lstStyle/>
          <a:p>
            <a:pPr marL="0" indent="0">
              <a:buNone/>
            </a:pPr>
            <a:r>
              <a:rPr lang="en-US" sz="1200" b="1" kern="0" spc="400" dirty="0">
                <a:solidFill>
                  <a:srgbClr val="FD7E4F"/>
                </a:solidFill>
                <a:latin typeface="Calibri" pitchFamily="34" charset="0"/>
                <a:ea typeface="Calibri" pitchFamily="34" charset="-122"/>
                <a:cs typeface="Calibri" pitchFamily="34" charset="-120"/>
              </a:rPr>
              <a:t>KOBIE LAUNCHPAD 2026</a:t>
            </a:r>
            <a:endParaRPr lang="en-US" sz="1200" dirty="0"/>
          </a:p>
        </p:txBody>
      </p:sp>
      <p:sp>
        <p:nvSpPr>
          <p:cNvPr id="5" name="Text 3"/>
          <p:cNvSpPr/>
          <p:nvPr/>
        </p:nvSpPr>
        <p:spPr>
          <a:xfrm>
            <a:off x="568960" y="708660"/>
            <a:ext cx="6847840" cy="640080"/>
          </a:xfrm>
          <a:prstGeom prst="rect">
            <a:avLst/>
          </a:prstGeom>
          <a:noFill/>
          <a:ln/>
        </p:spPr>
        <p:txBody>
          <a:bodyPr wrap="square" rtlCol="0" anchor="ctr"/>
          <a:lstStyle/>
          <a:p>
            <a:pPr marL="0" indent="0">
              <a:buNone/>
            </a:pPr>
            <a:r>
              <a:rPr lang="en-US" sz="2800" b="1" dirty="0">
                <a:solidFill>
                  <a:srgbClr val="FFFFFF"/>
                </a:solidFill>
                <a:latin typeface="Georgia" pitchFamily="34" charset="0"/>
              </a:rPr>
              <a:t>One-Click-Ops</a:t>
            </a:r>
            <a:endParaRPr lang="en-US" sz="2800" dirty="0"/>
          </a:p>
        </p:txBody>
      </p:sp>
      <p:sp>
        <p:nvSpPr>
          <p:cNvPr id="6" name="Text 4"/>
          <p:cNvSpPr/>
          <p:nvPr/>
        </p:nvSpPr>
        <p:spPr>
          <a:xfrm>
            <a:off x="640080" y="2011680"/>
            <a:ext cx="6400800" cy="457200"/>
          </a:xfrm>
          <a:prstGeom prst="rect">
            <a:avLst/>
          </a:prstGeom>
          <a:noFill/>
          <a:ln/>
        </p:spPr>
        <p:txBody>
          <a:bodyPr wrap="square" rtlCol="0" anchor="ctr"/>
          <a:lstStyle/>
          <a:p>
            <a:pPr marL="0" indent="0">
              <a:buNone/>
            </a:pPr>
            <a:endParaRPr lang="en-US" sz="2000" b="1" dirty="0"/>
          </a:p>
        </p:txBody>
      </p:sp>
      <p:sp>
        <p:nvSpPr>
          <p:cNvPr id="7" name="Shape 5"/>
          <p:cNvSpPr/>
          <p:nvPr/>
        </p:nvSpPr>
        <p:spPr>
          <a:xfrm>
            <a:off x="1148080" y="2080261"/>
            <a:ext cx="5984240" cy="927099"/>
          </a:xfrm>
          <a:prstGeom prst="rect">
            <a:avLst/>
          </a:prstGeom>
          <a:solidFill>
            <a:srgbClr val="FD7E4F">
              <a:alpha val="20000"/>
            </a:srgbClr>
          </a:solidFill>
          <a:ln/>
        </p:spPr>
        <p:txBody>
          <a:bodyPr/>
          <a:lstStyle/>
          <a:p>
            <a:r>
              <a:rPr lang="en-US" sz="5400" dirty="0">
                <a:solidFill>
                  <a:schemeClr val="accent2"/>
                </a:solidFill>
                <a:latin typeface="Times New Roman" panose="02020603050405020304" pitchFamily="18" charset="0"/>
                <a:cs typeface="Times New Roman" panose="02020603050405020304" pitchFamily="18" charset="0"/>
              </a:rPr>
              <a:t>  THANK YOU !!!!</a:t>
            </a:r>
            <a:endParaRPr lang="en-IN" sz="5400" dirty="0">
              <a:solidFill>
                <a:schemeClr val="accent2"/>
              </a:solidFill>
              <a:latin typeface="Times New Roman" panose="02020603050405020304" pitchFamily="18" charset="0"/>
              <a:cs typeface="Times New Roman" panose="02020603050405020304" pitchFamily="18" charset="0"/>
            </a:endParaRPr>
          </a:p>
        </p:txBody>
      </p:sp>
      <p:sp>
        <p:nvSpPr>
          <p:cNvPr id="8" name="Text 6"/>
          <p:cNvSpPr/>
          <p:nvPr/>
        </p:nvSpPr>
        <p:spPr>
          <a:xfrm>
            <a:off x="868680" y="3108960"/>
            <a:ext cx="5029200" cy="1005840"/>
          </a:xfrm>
          <a:prstGeom prst="rect">
            <a:avLst/>
          </a:prstGeom>
          <a:noFill/>
          <a:ln/>
        </p:spPr>
        <p:txBody>
          <a:bodyPr wrap="square" lIns="0" tIns="0" rIns="0" bIns="0" rtlCol="0" anchor="ctr"/>
          <a:lstStyle/>
          <a:p>
            <a:pPr marL="0" indent="0">
              <a:buNone/>
            </a:pPr>
            <a:endParaRPr lang="en-US" sz="2000" dirty="0">
              <a:solidFill>
                <a:schemeClr val="bg1"/>
              </a:solidFill>
            </a:endParaRPr>
          </a:p>
        </p:txBody>
      </p:sp>
      <p:sp>
        <p:nvSpPr>
          <p:cNvPr id="9" name="Text 7"/>
          <p:cNvSpPr/>
          <p:nvPr/>
        </p:nvSpPr>
        <p:spPr>
          <a:xfrm>
            <a:off x="132080" y="5947410"/>
            <a:ext cx="4572000" cy="320040"/>
          </a:xfrm>
          <a:prstGeom prst="rect">
            <a:avLst/>
          </a:prstGeom>
          <a:noFill/>
          <a:ln/>
        </p:spPr>
        <p:txBody>
          <a:bodyPr wrap="square" rtlCol="0" anchor="ctr"/>
          <a:lstStyle/>
          <a:p>
            <a:pPr marL="0" indent="0">
              <a:buNone/>
            </a:pPr>
            <a:endParaRPr lang="en-US" dirty="0"/>
          </a:p>
        </p:txBody>
      </p:sp>
      <p:sp>
        <p:nvSpPr>
          <p:cNvPr id="11" name="Text 7">
            <a:extLst>
              <a:ext uri="{FF2B5EF4-FFF2-40B4-BE49-F238E27FC236}">
                <a16:creationId xmlns:a16="http://schemas.microsoft.com/office/drawing/2014/main" id="{58C9F587-57DC-404D-9993-2A1F3FAB15B8}"/>
              </a:ext>
            </a:extLst>
          </p:cNvPr>
          <p:cNvSpPr/>
          <p:nvPr/>
        </p:nvSpPr>
        <p:spPr>
          <a:xfrm>
            <a:off x="10055098" y="-503555"/>
            <a:ext cx="1105205" cy="119823"/>
          </a:xfrm>
          <a:prstGeom prst="rect">
            <a:avLst/>
          </a:prstGeom>
          <a:noFill/>
          <a:ln/>
        </p:spPr>
        <p:txBody>
          <a:bodyPr wrap="square" lIns="0" tIns="0" rIns="0" bIns="0" rtlCol="0" anchor="ctr"/>
          <a:lstStyle/>
          <a:p>
            <a:pPr marL="0" indent="0">
              <a:buNone/>
            </a:pPr>
            <a:endParaRPr lang="en-US" sz="1300" dirty="0"/>
          </a:p>
        </p:txBody>
      </p:sp>
      <p:pic>
        <p:nvPicPr>
          <p:cNvPr id="12" name="Picture 2" descr="Kobie | LinkedIn">
            <a:extLst>
              <a:ext uri="{FF2B5EF4-FFF2-40B4-BE49-F238E27FC236}">
                <a16:creationId xmlns:a16="http://schemas.microsoft.com/office/drawing/2014/main" id="{0DB4B5FB-C715-4008-BBA0-3E09A77626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16798" y="64135"/>
            <a:ext cx="657860" cy="657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50057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849</TotalTime>
  <Words>1771</Words>
  <Application>Microsoft Office PowerPoint</Application>
  <PresentationFormat>On-screen Show (16:9)</PresentationFormat>
  <Paragraphs>204</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Georgia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Solution Approach — Kobie LaunchPad 2026</dc:title>
  <dc:subject>PptxGenJS Presentation</dc:subject>
  <dc:creator>Kobie Marketing GCC</dc:creator>
  <cp:lastModifiedBy>Tata Ilni</cp:lastModifiedBy>
  <cp:revision>14</cp:revision>
  <dcterms:created xsi:type="dcterms:W3CDTF">2026-05-22T08:27:42Z</dcterms:created>
  <dcterms:modified xsi:type="dcterms:W3CDTF">2026-06-05T11:19:00Z</dcterms:modified>
</cp:coreProperties>
</file>